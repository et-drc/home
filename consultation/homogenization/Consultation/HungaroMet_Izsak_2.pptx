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6"/>
    <p:sldMasterId id="2147483693" r:id="rId7"/>
    <p:sldMasterId id="2147483672" r:id="rId8"/>
    <p:sldMasterId id="2147483682" r:id="rId9"/>
  </p:sldMasterIdLst>
  <p:notesMasterIdLst>
    <p:notesMasterId r:id="rId16"/>
  </p:notesMasterIdLst>
  <p:sldIdLst>
    <p:sldId id="307" r:id="rId10"/>
    <p:sldId id="296" r:id="rId11"/>
    <p:sldId id="306" r:id="rId12"/>
    <p:sldId id="300" r:id="rId13"/>
    <p:sldId id="299" r:id="rId14"/>
    <p:sldId id="298" r:id="rId1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307" autoAdjust="0"/>
  </p:normalViewPr>
  <p:slideViewPr>
    <p:cSldViewPr snapToGrid="0">
      <p:cViewPr varScale="1">
        <p:scale>
          <a:sx n="80" d="100"/>
          <a:sy n="80" d="100"/>
        </p:scale>
        <p:origin x="16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D:\Users\izsak_b\saj&#225;t%20doksik\homogkollokvium\comparis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b="1" dirty="0" err="1">
                <a:solidFill>
                  <a:schemeClr val="tx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Annual</a:t>
            </a:r>
            <a:r>
              <a:rPr lang="hu-HU" b="1" dirty="0">
                <a:solidFill>
                  <a:schemeClr val="tx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hu-HU" b="1" dirty="0" err="1">
                <a:solidFill>
                  <a:schemeClr val="tx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mean</a:t>
            </a:r>
            <a:r>
              <a:rPr lang="hu-HU" b="1" baseline="0" dirty="0">
                <a:solidFill>
                  <a:schemeClr val="tx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hu-HU" b="1" baseline="0" dirty="0" err="1">
                <a:solidFill>
                  <a:schemeClr val="tx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temperature</a:t>
            </a:r>
            <a:endParaRPr lang="hu-HU" b="1" dirty="0">
              <a:solidFill>
                <a:schemeClr val="tx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Munka2!$D$1</c:f>
              <c:strCache>
                <c:ptCount val="1"/>
                <c:pt idx="0">
                  <c:v>raw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Munka2!$A$2:$A$124</c:f>
              <c:numCache>
                <c:formatCode>General</c:formatCode>
                <c:ptCount val="123"/>
                <c:pt idx="0">
                  <c:v>1901</c:v>
                </c:pt>
                <c:pt idx="1">
                  <c:v>1902</c:v>
                </c:pt>
                <c:pt idx="2">
                  <c:v>1903</c:v>
                </c:pt>
                <c:pt idx="3">
                  <c:v>1904</c:v>
                </c:pt>
                <c:pt idx="4">
                  <c:v>1905</c:v>
                </c:pt>
                <c:pt idx="5">
                  <c:v>1906</c:v>
                </c:pt>
                <c:pt idx="6">
                  <c:v>1907</c:v>
                </c:pt>
                <c:pt idx="7">
                  <c:v>1908</c:v>
                </c:pt>
                <c:pt idx="8">
                  <c:v>1909</c:v>
                </c:pt>
                <c:pt idx="9">
                  <c:v>1910</c:v>
                </c:pt>
                <c:pt idx="10">
                  <c:v>1911</c:v>
                </c:pt>
                <c:pt idx="11">
                  <c:v>1912</c:v>
                </c:pt>
                <c:pt idx="12">
                  <c:v>1913</c:v>
                </c:pt>
                <c:pt idx="13">
                  <c:v>1914</c:v>
                </c:pt>
                <c:pt idx="14">
                  <c:v>1915</c:v>
                </c:pt>
                <c:pt idx="15">
                  <c:v>1916</c:v>
                </c:pt>
                <c:pt idx="16">
                  <c:v>1917</c:v>
                </c:pt>
                <c:pt idx="17">
                  <c:v>1918</c:v>
                </c:pt>
                <c:pt idx="18">
                  <c:v>1919</c:v>
                </c:pt>
                <c:pt idx="19">
                  <c:v>1920</c:v>
                </c:pt>
                <c:pt idx="20">
                  <c:v>1921</c:v>
                </c:pt>
                <c:pt idx="21">
                  <c:v>1922</c:v>
                </c:pt>
                <c:pt idx="22">
                  <c:v>1923</c:v>
                </c:pt>
                <c:pt idx="23">
                  <c:v>1924</c:v>
                </c:pt>
                <c:pt idx="24">
                  <c:v>1925</c:v>
                </c:pt>
                <c:pt idx="25">
                  <c:v>1926</c:v>
                </c:pt>
                <c:pt idx="26">
                  <c:v>1927</c:v>
                </c:pt>
                <c:pt idx="27">
                  <c:v>1928</c:v>
                </c:pt>
                <c:pt idx="28">
                  <c:v>1929</c:v>
                </c:pt>
                <c:pt idx="29">
                  <c:v>1930</c:v>
                </c:pt>
                <c:pt idx="30">
                  <c:v>1931</c:v>
                </c:pt>
                <c:pt idx="31">
                  <c:v>1932</c:v>
                </c:pt>
                <c:pt idx="32">
                  <c:v>1933</c:v>
                </c:pt>
                <c:pt idx="33">
                  <c:v>1934</c:v>
                </c:pt>
                <c:pt idx="34">
                  <c:v>1935</c:v>
                </c:pt>
                <c:pt idx="35">
                  <c:v>1936</c:v>
                </c:pt>
                <c:pt idx="36">
                  <c:v>1937</c:v>
                </c:pt>
                <c:pt idx="37">
                  <c:v>1938</c:v>
                </c:pt>
                <c:pt idx="38">
                  <c:v>1939</c:v>
                </c:pt>
                <c:pt idx="39">
                  <c:v>1940</c:v>
                </c:pt>
                <c:pt idx="40">
                  <c:v>1941</c:v>
                </c:pt>
                <c:pt idx="41">
                  <c:v>1942</c:v>
                </c:pt>
                <c:pt idx="42">
                  <c:v>1943</c:v>
                </c:pt>
                <c:pt idx="43">
                  <c:v>1944</c:v>
                </c:pt>
                <c:pt idx="44">
                  <c:v>1945</c:v>
                </c:pt>
                <c:pt idx="45">
                  <c:v>1946</c:v>
                </c:pt>
                <c:pt idx="46">
                  <c:v>1947</c:v>
                </c:pt>
                <c:pt idx="47">
                  <c:v>1948</c:v>
                </c:pt>
                <c:pt idx="48">
                  <c:v>1949</c:v>
                </c:pt>
                <c:pt idx="49">
                  <c:v>1950</c:v>
                </c:pt>
                <c:pt idx="50">
                  <c:v>1951</c:v>
                </c:pt>
                <c:pt idx="51">
                  <c:v>1952</c:v>
                </c:pt>
                <c:pt idx="52">
                  <c:v>1953</c:v>
                </c:pt>
                <c:pt idx="53">
                  <c:v>1954</c:v>
                </c:pt>
                <c:pt idx="54">
                  <c:v>1955</c:v>
                </c:pt>
                <c:pt idx="55">
                  <c:v>1956</c:v>
                </c:pt>
                <c:pt idx="56">
                  <c:v>1957</c:v>
                </c:pt>
                <c:pt idx="57">
                  <c:v>1958</c:v>
                </c:pt>
                <c:pt idx="58">
                  <c:v>1959</c:v>
                </c:pt>
                <c:pt idx="59">
                  <c:v>1960</c:v>
                </c:pt>
                <c:pt idx="60">
                  <c:v>1961</c:v>
                </c:pt>
                <c:pt idx="61">
                  <c:v>1962</c:v>
                </c:pt>
                <c:pt idx="62">
                  <c:v>1963</c:v>
                </c:pt>
                <c:pt idx="63">
                  <c:v>1964</c:v>
                </c:pt>
                <c:pt idx="64">
                  <c:v>1965</c:v>
                </c:pt>
                <c:pt idx="65">
                  <c:v>1966</c:v>
                </c:pt>
                <c:pt idx="66">
                  <c:v>1967</c:v>
                </c:pt>
                <c:pt idx="67">
                  <c:v>1968</c:v>
                </c:pt>
                <c:pt idx="68">
                  <c:v>1969</c:v>
                </c:pt>
                <c:pt idx="69">
                  <c:v>1970</c:v>
                </c:pt>
                <c:pt idx="70">
                  <c:v>1971</c:v>
                </c:pt>
                <c:pt idx="71">
                  <c:v>1972</c:v>
                </c:pt>
                <c:pt idx="72">
                  <c:v>1973</c:v>
                </c:pt>
                <c:pt idx="73">
                  <c:v>1974</c:v>
                </c:pt>
                <c:pt idx="74">
                  <c:v>1975</c:v>
                </c:pt>
                <c:pt idx="75">
                  <c:v>1976</c:v>
                </c:pt>
                <c:pt idx="76">
                  <c:v>1977</c:v>
                </c:pt>
                <c:pt idx="77">
                  <c:v>1978</c:v>
                </c:pt>
                <c:pt idx="78">
                  <c:v>1979</c:v>
                </c:pt>
                <c:pt idx="79">
                  <c:v>1980</c:v>
                </c:pt>
                <c:pt idx="80">
                  <c:v>1981</c:v>
                </c:pt>
                <c:pt idx="81">
                  <c:v>1982</c:v>
                </c:pt>
                <c:pt idx="82">
                  <c:v>1983</c:v>
                </c:pt>
                <c:pt idx="83">
                  <c:v>1984</c:v>
                </c:pt>
                <c:pt idx="84">
                  <c:v>1985</c:v>
                </c:pt>
                <c:pt idx="85">
                  <c:v>1986</c:v>
                </c:pt>
                <c:pt idx="86">
                  <c:v>1987</c:v>
                </c:pt>
                <c:pt idx="87">
                  <c:v>1988</c:v>
                </c:pt>
                <c:pt idx="88">
                  <c:v>1989</c:v>
                </c:pt>
                <c:pt idx="89">
                  <c:v>1990</c:v>
                </c:pt>
                <c:pt idx="90">
                  <c:v>1991</c:v>
                </c:pt>
                <c:pt idx="91">
                  <c:v>1992</c:v>
                </c:pt>
                <c:pt idx="92">
                  <c:v>1993</c:v>
                </c:pt>
                <c:pt idx="93">
                  <c:v>1994</c:v>
                </c:pt>
                <c:pt idx="94">
                  <c:v>1995</c:v>
                </c:pt>
                <c:pt idx="95">
                  <c:v>1996</c:v>
                </c:pt>
                <c:pt idx="96">
                  <c:v>1997</c:v>
                </c:pt>
                <c:pt idx="97">
                  <c:v>1998</c:v>
                </c:pt>
                <c:pt idx="98">
                  <c:v>1999</c:v>
                </c:pt>
                <c:pt idx="99">
                  <c:v>2000</c:v>
                </c:pt>
                <c:pt idx="100">
                  <c:v>2001</c:v>
                </c:pt>
                <c:pt idx="101">
                  <c:v>2002</c:v>
                </c:pt>
                <c:pt idx="102">
                  <c:v>2003</c:v>
                </c:pt>
                <c:pt idx="103">
                  <c:v>2004</c:v>
                </c:pt>
                <c:pt idx="104">
                  <c:v>2005</c:v>
                </c:pt>
                <c:pt idx="105">
                  <c:v>2006</c:v>
                </c:pt>
                <c:pt idx="106">
                  <c:v>2007</c:v>
                </c:pt>
                <c:pt idx="107">
                  <c:v>2008</c:v>
                </c:pt>
                <c:pt idx="108">
                  <c:v>2009</c:v>
                </c:pt>
                <c:pt idx="109">
                  <c:v>2010</c:v>
                </c:pt>
                <c:pt idx="110">
                  <c:v>2011</c:v>
                </c:pt>
                <c:pt idx="111">
                  <c:v>2012</c:v>
                </c:pt>
                <c:pt idx="112">
                  <c:v>2013</c:v>
                </c:pt>
                <c:pt idx="113">
                  <c:v>2014</c:v>
                </c:pt>
                <c:pt idx="114">
                  <c:v>2015</c:v>
                </c:pt>
                <c:pt idx="115">
                  <c:v>2016</c:v>
                </c:pt>
                <c:pt idx="116">
                  <c:v>2017</c:v>
                </c:pt>
                <c:pt idx="117">
                  <c:v>2018</c:v>
                </c:pt>
                <c:pt idx="118">
                  <c:v>2019</c:v>
                </c:pt>
                <c:pt idx="119">
                  <c:v>2020</c:v>
                </c:pt>
                <c:pt idx="120">
                  <c:v>2021</c:v>
                </c:pt>
                <c:pt idx="121">
                  <c:v>2022</c:v>
                </c:pt>
                <c:pt idx="122">
                  <c:v>2023</c:v>
                </c:pt>
              </c:numCache>
            </c:numRef>
          </c:cat>
          <c:val>
            <c:numRef>
              <c:f>Munka2!$D$2:$D$124</c:f>
              <c:numCache>
                <c:formatCode>General</c:formatCode>
                <c:ptCount val="123"/>
                <c:pt idx="0">
                  <c:v>8.3699999999999992</c:v>
                </c:pt>
                <c:pt idx="1">
                  <c:v>7.48</c:v>
                </c:pt>
                <c:pt idx="2">
                  <c:v>8.84</c:v>
                </c:pt>
                <c:pt idx="3">
                  <c:v>8.74</c:v>
                </c:pt>
                <c:pt idx="4">
                  <c:v>8.32</c:v>
                </c:pt>
                <c:pt idx="5">
                  <c:v>8.5299999999999994</c:v>
                </c:pt>
                <c:pt idx="6">
                  <c:v>7.8</c:v>
                </c:pt>
                <c:pt idx="7">
                  <c:v>7.62</c:v>
                </c:pt>
                <c:pt idx="8">
                  <c:v>8.19</c:v>
                </c:pt>
                <c:pt idx="9">
                  <c:v>9.19</c:v>
                </c:pt>
                <c:pt idx="10">
                  <c:v>9.18</c:v>
                </c:pt>
                <c:pt idx="11">
                  <c:v>7.53</c:v>
                </c:pt>
                <c:pt idx="12">
                  <c:v>7.84</c:v>
                </c:pt>
                <c:pt idx="13">
                  <c:v>7.87</c:v>
                </c:pt>
                <c:pt idx="14">
                  <c:v>8.2899999999999991</c:v>
                </c:pt>
                <c:pt idx="15">
                  <c:v>9.2200000000000006</c:v>
                </c:pt>
                <c:pt idx="16">
                  <c:v>8.2799999999999994</c:v>
                </c:pt>
                <c:pt idx="17">
                  <c:v>8.73</c:v>
                </c:pt>
                <c:pt idx="18">
                  <c:v>8.1999999999999993</c:v>
                </c:pt>
                <c:pt idx="19">
                  <c:v>8.8800000000000008</c:v>
                </c:pt>
                <c:pt idx="20">
                  <c:v>8.92</c:v>
                </c:pt>
                <c:pt idx="21">
                  <c:v>7.51</c:v>
                </c:pt>
                <c:pt idx="22">
                  <c:v>9.1</c:v>
                </c:pt>
                <c:pt idx="23">
                  <c:v>7.94</c:v>
                </c:pt>
                <c:pt idx="24">
                  <c:v>8.5299999999999994</c:v>
                </c:pt>
                <c:pt idx="25">
                  <c:v>9.48</c:v>
                </c:pt>
                <c:pt idx="26">
                  <c:v>9.82</c:v>
                </c:pt>
                <c:pt idx="27">
                  <c:v>9.3000000000000007</c:v>
                </c:pt>
                <c:pt idx="28">
                  <c:v>8.18</c:v>
                </c:pt>
                <c:pt idx="29">
                  <c:v>9.73</c:v>
                </c:pt>
                <c:pt idx="30">
                  <c:v>8.5299999999999994</c:v>
                </c:pt>
                <c:pt idx="31">
                  <c:v>9.1199999999999992</c:v>
                </c:pt>
                <c:pt idx="32">
                  <c:v>8.5</c:v>
                </c:pt>
                <c:pt idx="33">
                  <c:v>10.63</c:v>
                </c:pt>
                <c:pt idx="34">
                  <c:v>9.15</c:v>
                </c:pt>
                <c:pt idx="35">
                  <c:v>9.59</c:v>
                </c:pt>
                <c:pt idx="36">
                  <c:v>9.7899999999999991</c:v>
                </c:pt>
                <c:pt idx="37">
                  <c:v>9</c:v>
                </c:pt>
                <c:pt idx="38">
                  <c:v>9.07</c:v>
                </c:pt>
                <c:pt idx="39">
                  <c:v>6.53</c:v>
                </c:pt>
                <c:pt idx="40">
                  <c:v>7.68</c:v>
                </c:pt>
                <c:pt idx="41">
                  <c:v>8.44</c:v>
                </c:pt>
                <c:pt idx="42">
                  <c:v>8.85</c:v>
                </c:pt>
                <c:pt idx="43">
                  <c:v>8.77</c:v>
                </c:pt>
                <c:pt idx="44">
                  <c:v>8.7200000000000006</c:v>
                </c:pt>
                <c:pt idx="45">
                  <c:v>9.59</c:v>
                </c:pt>
                <c:pt idx="46">
                  <c:v>9.8000000000000007</c:v>
                </c:pt>
                <c:pt idx="47">
                  <c:v>9.5399999999999991</c:v>
                </c:pt>
                <c:pt idx="48">
                  <c:v>9.86</c:v>
                </c:pt>
                <c:pt idx="49">
                  <c:v>10.119999999999999</c:v>
                </c:pt>
                <c:pt idx="50">
                  <c:v>10.39</c:v>
                </c:pt>
                <c:pt idx="51">
                  <c:v>9.15</c:v>
                </c:pt>
                <c:pt idx="52">
                  <c:v>9.19</c:v>
                </c:pt>
                <c:pt idx="53">
                  <c:v>8.09</c:v>
                </c:pt>
                <c:pt idx="54">
                  <c:v>8.5399999999999991</c:v>
                </c:pt>
                <c:pt idx="55">
                  <c:v>7.88</c:v>
                </c:pt>
                <c:pt idx="56">
                  <c:v>9.31</c:v>
                </c:pt>
                <c:pt idx="57">
                  <c:v>9.7899999999999991</c:v>
                </c:pt>
                <c:pt idx="58">
                  <c:v>9.6199999999999992</c:v>
                </c:pt>
                <c:pt idx="59">
                  <c:v>10.1</c:v>
                </c:pt>
                <c:pt idx="60">
                  <c:v>9.7899999999999991</c:v>
                </c:pt>
                <c:pt idx="61">
                  <c:v>8.94</c:v>
                </c:pt>
                <c:pt idx="62">
                  <c:v>8.8699999999999992</c:v>
                </c:pt>
                <c:pt idx="63">
                  <c:v>8.67</c:v>
                </c:pt>
                <c:pt idx="64">
                  <c:v>8.02</c:v>
                </c:pt>
                <c:pt idx="65">
                  <c:v>10.61</c:v>
                </c:pt>
                <c:pt idx="66">
                  <c:v>10.1</c:v>
                </c:pt>
                <c:pt idx="67">
                  <c:v>10.23</c:v>
                </c:pt>
                <c:pt idx="68">
                  <c:v>9.61</c:v>
                </c:pt>
                <c:pt idx="69">
                  <c:v>9.35</c:v>
                </c:pt>
                <c:pt idx="70">
                  <c:v>9.91</c:v>
                </c:pt>
                <c:pt idx="71">
                  <c:v>9.2100000000000009</c:v>
                </c:pt>
                <c:pt idx="72">
                  <c:v>8.75</c:v>
                </c:pt>
                <c:pt idx="73">
                  <c:v>9.4499999999999993</c:v>
                </c:pt>
                <c:pt idx="74">
                  <c:v>10.54</c:v>
                </c:pt>
                <c:pt idx="75">
                  <c:v>9.5500000000000007</c:v>
                </c:pt>
                <c:pt idx="76">
                  <c:v>9.9499999999999993</c:v>
                </c:pt>
                <c:pt idx="77">
                  <c:v>9.11</c:v>
                </c:pt>
                <c:pt idx="78">
                  <c:v>10.29</c:v>
                </c:pt>
                <c:pt idx="79">
                  <c:v>8.65</c:v>
                </c:pt>
                <c:pt idx="80">
                  <c:v>9.86</c:v>
                </c:pt>
                <c:pt idx="81">
                  <c:v>10.34</c:v>
                </c:pt>
                <c:pt idx="82">
                  <c:v>10.7</c:v>
                </c:pt>
                <c:pt idx="83">
                  <c:v>9.84</c:v>
                </c:pt>
                <c:pt idx="84">
                  <c:v>8.77</c:v>
                </c:pt>
                <c:pt idx="85">
                  <c:v>8.6300000000000008</c:v>
                </c:pt>
                <c:pt idx="86">
                  <c:v>8.44</c:v>
                </c:pt>
                <c:pt idx="87">
                  <c:v>9.15</c:v>
                </c:pt>
                <c:pt idx="88">
                  <c:v>9.7899999999999991</c:v>
                </c:pt>
                <c:pt idx="89">
                  <c:v>9.7200000000000006</c:v>
                </c:pt>
                <c:pt idx="90">
                  <c:v>8.35</c:v>
                </c:pt>
                <c:pt idx="91">
                  <c:v>9.6999999999999993</c:v>
                </c:pt>
                <c:pt idx="92">
                  <c:v>9.16</c:v>
                </c:pt>
                <c:pt idx="93">
                  <c:v>10.58</c:v>
                </c:pt>
                <c:pt idx="94">
                  <c:v>9.7899999999999991</c:v>
                </c:pt>
                <c:pt idx="95">
                  <c:v>8.7200000000000006</c:v>
                </c:pt>
                <c:pt idx="96">
                  <c:v>8.93</c:v>
                </c:pt>
                <c:pt idx="97">
                  <c:v>9.6999999999999993</c:v>
                </c:pt>
                <c:pt idx="98">
                  <c:v>8.1</c:v>
                </c:pt>
                <c:pt idx="99">
                  <c:v>8.57</c:v>
                </c:pt>
                <c:pt idx="100">
                  <c:v>7.88</c:v>
                </c:pt>
                <c:pt idx="101">
                  <c:v>8.6199999999999992</c:v>
                </c:pt>
                <c:pt idx="102">
                  <c:v>7.46</c:v>
                </c:pt>
                <c:pt idx="103">
                  <c:v>7.86</c:v>
                </c:pt>
                <c:pt idx="104">
                  <c:v>7.4</c:v>
                </c:pt>
                <c:pt idx="105">
                  <c:v>7.95</c:v>
                </c:pt>
                <c:pt idx="106">
                  <c:v>9.11</c:v>
                </c:pt>
                <c:pt idx="107">
                  <c:v>8.77</c:v>
                </c:pt>
                <c:pt idx="108">
                  <c:v>8.4499999999999993</c:v>
                </c:pt>
                <c:pt idx="109">
                  <c:v>7.76</c:v>
                </c:pt>
                <c:pt idx="110">
                  <c:v>8.08</c:v>
                </c:pt>
                <c:pt idx="111">
                  <c:v>8.48</c:v>
                </c:pt>
                <c:pt idx="112">
                  <c:v>8.68</c:v>
                </c:pt>
                <c:pt idx="113">
                  <c:v>9.86</c:v>
                </c:pt>
                <c:pt idx="114">
                  <c:v>9.32</c:v>
                </c:pt>
                <c:pt idx="115">
                  <c:v>8.6999999999999993</c:v>
                </c:pt>
                <c:pt idx="116">
                  <c:v>8.3000000000000007</c:v>
                </c:pt>
                <c:pt idx="117">
                  <c:v>9.43</c:v>
                </c:pt>
                <c:pt idx="118">
                  <c:v>9.2799999999999994</c:v>
                </c:pt>
                <c:pt idx="119">
                  <c:v>9.07</c:v>
                </c:pt>
                <c:pt idx="120">
                  <c:v>7.87</c:v>
                </c:pt>
                <c:pt idx="121">
                  <c:v>9.14</c:v>
                </c:pt>
                <c:pt idx="122">
                  <c:v>9.57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24-433C-B790-6C0A7A28BFD0}"/>
            </c:ext>
          </c:extLst>
        </c:ser>
        <c:ser>
          <c:idx val="1"/>
          <c:order val="1"/>
          <c:tx>
            <c:strRef>
              <c:f>Munka2!$L$1</c:f>
              <c:strCache>
                <c:ptCount val="1"/>
                <c:pt idx="0">
                  <c:v>homog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Munka2!$A$2:$A$124</c:f>
              <c:numCache>
                <c:formatCode>General</c:formatCode>
                <c:ptCount val="123"/>
                <c:pt idx="0">
                  <c:v>1901</c:v>
                </c:pt>
                <c:pt idx="1">
                  <c:v>1902</c:v>
                </c:pt>
                <c:pt idx="2">
                  <c:v>1903</c:v>
                </c:pt>
                <c:pt idx="3">
                  <c:v>1904</c:v>
                </c:pt>
                <c:pt idx="4">
                  <c:v>1905</c:v>
                </c:pt>
                <c:pt idx="5">
                  <c:v>1906</c:v>
                </c:pt>
                <c:pt idx="6">
                  <c:v>1907</c:v>
                </c:pt>
                <c:pt idx="7">
                  <c:v>1908</c:v>
                </c:pt>
                <c:pt idx="8">
                  <c:v>1909</c:v>
                </c:pt>
                <c:pt idx="9">
                  <c:v>1910</c:v>
                </c:pt>
                <c:pt idx="10">
                  <c:v>1911</c:v>
                </c:pt>
                <c:pt idx="11">
                  <c:v>1912</c:v>
                </c:pt>
                <c:pt idx="12">
                  <c:v>1913</c:v>
                </c:pt>
                <c:pt idx="13">
                  <c:v>1914</c:v>
                </c:pt>
                <c:pt idx="14">
                  <c:v>1915</c:v>
                </c:pt>
                <c:pt idx="15">
                  <c:v>1916</c:v>
                </c:pt>
                <c:pt idx="16">
                  <c:v>1917</c:v>
                </c:pt>
                <c:pt idx="17">
                  <c:v>1918</c:v>
                </c:pt>
                <c:pt idx="18">
                  <c:v>1919</c:v>
                </c:pt>
                <c:pt idx="19">
                  <c:v>1920</c:v>
                </c:pt>
                <c:pt idx="20">
                  <c:v>1921</c:v>
                </c:pt>
                <c:pt idx="21">
                  <c:v>1922</c:v>
                </c:pt>
                <c:pt idx="22">
                  <c:v>1923</c:v>
                </c:pt>
                <c:pt idx="23">
                  <c:v>1924</c:v>
                </c:pt>
                <c:pt idx="24">
                  <c:v>1925</c:v>
                </c:pt>
                <c:pt idx="25">
                  <c:v>1926</c:v>
                </c:pt>
                <c:pt idx="26">
                  <c:v>1927</c:v>
                </c:pt>
                <c:pt idx="27">
                  <c:v>1928</c:v>
                </c:pt>
                <c:pt idx="28">
                  <c:v>1929</c:v>
                </c:pt>
                <c:pt idx="29">
                  <c:v>1930</c:v>
                </c:pt>
                <c:pt idx="30">
                  <c:v>1931</c:v>
                </c:pt>
                <c:pt idx="31">
                  <c:v>1932</c:v>
                </c:pt>
                <c:pt idx="32">
                  <c:v>1933</c:v>
                </c:pt>
                <c:pt idx="33">
                  <c:v>1934</c:v>
                </c:pt>
                <c:pt idx="34">
                  <c:v>1935</c:v>
                </c:pt>
                <c:pt idx="35">
                  <c:v>1936</c:v>
                </c:pt>
                <c:pt idx="36">
                  <c:v>1937</c:v>
                </c:pt>
                <c:pt idx="37">
                  <c:v>1938</c:v>
                </c:pt>
                <c:pt idx="38">
                  <c:v>1939</c:v>
                </c:pt>
                <c:pt idx="39">
                  <c:v>1940</c:v>
                </c:pt>
                <c:pt idx="40">
                  <c:v>1941</c:v>
                </c:pt>
                <c:pt idx="41">
                  <c:v>1942</c:v>
                </c:pt>
                <c:pt idx="42">
                  <c:v>1943</c:v>
                </c:pt>
                <c:pt idx="43">
                  <c:v>1944</c:v>
                </c:pt>
                <c:pt idx="44">
                  <c:v>1945</c:v>
                </c:pt>
                <c:pt idx="45">
                  <c:v>1946</c:v>
                </c:pt>
                <c:pt idx="46">
                  <c:v>1947</c:v>
                </c:pt>
                <c:pt idx="47">
                  <c:v>1948</c:v>
                </c:pt>
                <c:pt idx="48">
                  <c:v>1949</c:v>
                </c:pt>
                <c:pt idx="49">
                  <c:v>1950</c:v>
                </c:pt>
                <c:pt idx="50">
                  <c:v>1951</c:v>
                </c:pt>
                <c:pt idx="51">
                  <c:v>1952</c:v>
                </c:pt>
                <c:pt idx="52">
                  <c:v>1953</c:v>
                </c:pt>
                <c:pt idx="53">
                  <c:v>1954</c:v>
                </c:pt>
                <c:pt idx="54">
                  <c:v>1955</c:v>
                </c:pt>
                <c:pt idx="55">
                  <c:v>1956</c:v>
                </c:pt>
                <c:pt idx="56">
                  <c:v>1957</c:v>
                </c:pt>
                <c:pt idx="57">
                  <c:v>1958</c:v>
                </c:pt>
                <c:pt idx="58">
                  <c:v>1959</c:v>
                </c:pt>
                <c:pt idx="59">
                  <c:v>1960</c:v>
                </c:pt>
                <c:pt idx="60">
                  <c:v>1961</c:v>
                </c:pt>
                <c:pt idx="61">
                  <c:v>1962</c:v>
                </c:pt>
                <c:pt idx="62">
                  <c:v>1963</c:v>
                </c:pt>
                <c:pt idx="63">
                  <c:v>1964</c:v>
                </c:pt>
                <c:pt idx="64">
                  <c:v>1965</c:v>
                </c:pt>
                <c:pt idx="65">
                  <c:v>1966</c:v>
                </c:pt>
                <c:pt idx="66">
                  <c:v>1967</c:v>
                </c:pt>
                <c:pt idx="67">
                  <c:v>1968</c:v>
                </c:pt>
                <c:pt idx="68">
                  <c:v>1969</c:v>
                </c:pt>
                <c:pt idx="69">
                  <c:v>1970</c:v>
                </c:pt>
                <c:pt idx="70">
                  <c:v>1971</c:v>
                </c:pt>
                <c:pt idx="71">
                  <c:v>1972</c:v>
                </c:pt>
                <c:pt idx="72">
                  <c:v>1973</c:v>
                </c:pt>
                <c:pt idx="73">
                  <c:v>1974</c:v>
                </c:pt>
                <c:pt idx="74">
                  <c:v>1975</c:v>
                </c:pt>
                <c:pt idx="75">
                  <c:v>1976</c:v>
                </c:pt>
                <c:pt idx="76">
                  <c:v>1977</c:v>
                </c:pt>
                <c:pt idx="77">
                  <c:v>1978</c:v>
                </c:pt>
                <c:pt idx="78">
                  <c:v>1979</c:v>
                </c:pt>
                <c:pt idx="79">
                  <c:v>1980</c:v>
                </c:pt>
                <c:pt idx="80">
                  <c:v>1981</c:v>
                </c:pt>
                <c:pt idx="81">
                  <c:v>1982</c:v>
                </c:pt>
                <c:pt idx="82">
                  <c:v>1983</c:v>
                </c:pt>
                <c:pt idx="83">
                  <c:v>1984</c:v>
                </c:pt>
                <c:pt idx="84">
                  <c:v>1985</c:v>
                </c:pt>
                <c:pt idx="85">
                  <c:v>1986</c:v>
                </c:pt>
                <c:pt idx="86">
                  <c:v>1987</c:v>
                </c:pt>
                <c:pt idx="87">
                  <c:v>1988</c:v>
                </c:pt>
                <c:pt idx="88">
                  <c:v>1989</c:v>
                </c:pt>
                <c:pt idx="89">
                  <c:v>1990</c:v>
                </c:pt>
                <c:pt idx="90">
                  <c:v>1991</c:v>
                </c:pt>
                <c:pt idx="91">
                  <c:v>1992</c:v>
                </c:pt>
                <c:pt idx="92">
                  <c:v>1993</c:v>
                </c:pt>
                <c:pt idx="93">
                  <c:v>1994</c:v>
                </c:pt>
                <c:pt idx="94">
                  <c:v>1995</c:v>
                </c:pt>
                <c:pt idx="95">
                  <c:v>1996</c:v>
                </c:pt>
                <c:pt idx="96">
                  <c:v>1997</c:v>
                </c:pt>
                <c:pt idx="97">
                  <c:v>1998</c:v>
                </c:pt>
                <c:pt idx="98">
                  <c:v>1999</c:v>
                </c:pt>
                <c:pt idx="99">
                  <c:v>2000</c:v>
                </c:pt>
                <c:pt idx="100">
                  <c:v>2001</c:v>
                </c:pt>
                <c:pt idx="101">
                  <c:v>2002</c:v>
                </c:pt>
                <c:pt idx="102">
                  <c:v>2003</c:v>
                </c:pt>
                <c:pt idx="103">
                  <c:v>2004</c:v>
                </c:pt>
                <c:pt idx="104">
                  <c:v>2005</c:v>
                </c:pt>
                <c:pt idx="105">
                  <c:v>2006</c:v>
                </c:pt>
                <c:pt idx="106">
                  <c:v>2007</c:v>
                </c:pt>
                <c:pt idx="107">
                  <c:v>2008</c:v>
                </c:pt>
                <c:pt idx="108">
                  <c:v>2009</c:v>
                </c:pt>
                <c:pt idx="109">
                  <c:v>2010</c:v>
                </c:pt>
                <c:pt idx="110">
                  <c:v>2011</c:v>
                </c:pt>
                <c:pt idx="111">
                  <c:v>2012</c:v>
                </c:pt>
                <c:pt idx="112">
                  <c:v>2013</c:v>
                </c:pt>
                <c:pt idx="113">
                  <c:v>2014</c:v>
                </c:pt>
                <c:pt idx="114">
                  <c:v>2015</c:v>
                </c:pt>
                <c:pt idx="115">
                  <c:v>2016</c:v>
                </c:pt>
                <c:pt idx="116">
                  <c:v>2017</c:v>
                </c:pt>
                <c:pt idx="117">
                  <c:v>2018</c:v>
                </c:pt>
                <c:pt idx="118">
                  <c:v>2019</c:v>
                </c:pt>
                <c:pt idx="119">
                  <c:v>2020</c:v>
                </c:pt>
                <c:pt idx="120">
                  <c:v>2021</c:v>
                </c:pt>
                <c:pt idx="121">
                  <c:v>2022</c:v>
                </c:pt>
                <c:pt idx="122">
                  <c:v>2023</c:v>
                </c:pt>
              </c:numCache>
            </c:numRef>
          </c:cat>
          <c:val>
            <c:numRef>
              <c:f>Munka2!$L$2:$L$124</c:f>
              <c:numCache>
                <c:formatCode>General</c:formatCode>
                <c:ptCount val="123"/>
                <c:pt idx="0">
                  <c:v>6.94</c:v>
                </c:pt>
                <c:pt idx="1">
                  <c:v>6.14</c:v>
                </c:pt>
                <c:pt idx="2">
                  <c:v>7.51</c:v>
                </c:pt>
                <c:pt idx="3">
                  <c:v>7.35</c:v>
                </c:pt>
                <c:pt idx="4">
                  <c:v>6.91</c:v>
                </c:pt>
                <c:pt idx="5">
                  <c:v>7.06</c:v>
                </c:pt>
                <c:pt idx="6">
                  <c:v>6.39</c:v>
                </c:pt>
                <c:pt idx="7">
                  <c:v>6.19</c:v>
                </c:pt>
                <c:pt idx="8">
                  <c:v>6.74</c:v>
                </c:pt>
                <c:pt idx="9">
                  <c:v>7.73</c:v>
                </c:pt>
                <c:pt idx="10">
                  <c:v>7.69</c:v>
                </c:pt>
                <c:pt idx="11">
                  <c:v>6.06</c:v>
                </c:pt>
                <c:pt idx="12">
                  <c:v>6.51</c:v>
                </c:pt>
                <c:pt idx="13">
                  <c:v>6.43</c:v>
                </c:pt>
                <c:pt idx="14">
                  <c:v>6.87</c:v>
                </c:pt>
                <c:pt idx="15">
                  <c:v>7.92</c:v>
                </c:pt>
                <c:pt idx="16">
                  <c:v>7.08</c:v>
                </c:pt>
                <c:pt idx="17">
                  <c:v>7.43</c:v>
                </c:pt>
                <c:pt idx="18">
                  <c:v>6.89</c:v>
                </c:pt>
                <c:pt idx="19">
                  <c:v>7.51</c:v>
                </c:pt>
                <c:pt idx="20">
                  <c:v>7.47</c:v>
                </c:pt>
                <c:pt idx="21">
                  <c:v>6.08</c:v>
                </c:pt>
                <c:pt idx="22">
                  <c:v>7.74</c:v>
                </c:pt>
                <c:pt idx="23">
                  <c:v>6.43</c:v>
                </c:pt>
                <c:pt idx="24">
                  <c:v>7.16</c:v>
                </c:pt>
                <c:pt idx="25">
                  <c:v>8.02</c:v>
                </c:pt>
                <c:pt idx="26">
                  <c:v>7.9</c:v>
                </c:pt>
                <c:pt idx="27">
                  <c:v>7.42</c:v>
                </c:pt>
                <c:pt idx="28">
                  <c:v>6.23</c:v>
                </c:pt>
                <c:pt idx="29">
                  <c:v>8.01</c:v>
                </c:pt>
                <c:pt idx="30">
                  <c:v>6.68</c:v>
                </c:pt>
                <c:pt idx="31">
                  <c:v>7.21</c:v>
                </c:pt>
                <c:pt idx="32">
                  <c:v>6.63</c:v>
                </c:pt>
                <c:pt idx="33">
                  <c:v>8.93</c:v>
                </c:pt>
                <c:pt idx="34">
                  <c:v>7.31</c:v>
                </c:pt>
                <c:pt idx="35">
                  <c:v>7.93</c:v>
                </c:pt>
                <c:pt idx="36">
                  <c:v>8.01</c:v>
                </c:pt>
                <c:pt idx="37">
                  <c:v>7.24</c:v>
                </c:pt>
                <c:pt idx="38">
                  <c:v>7.32</c:v>
                </c:pt>
                <c:pt idx="39">
                  <c:v>4.49</c:v>
                </c:pt>
                <c:pt idx="40">
                  <c:v>5.93</c:v>
                </c:pt>
                <c:pt idx="41">
                  <c:v>6.47</c:v>
                </c:pt>
                <c:pt idx="42">
                  <c:v>7.23</c:v>
                </c:pt>
                <c:pt idx="43">
                  <c:v>7.22</c:v>
                </c:pt>
                <c:pt idx="44">
                  <c:v>7.31</c:v>
                </c:pt>
                <c:pt idx="45">
                  <c:v>7.82</c:v>
                </c:pt>
                <c:pt idx="46">
                  <c:v>7.8</c:v>
                </c:pt>
                <c:pt idx="47">
                  <c:v>7.67</c:v>
                </c:pt>
                <c:pt idx="48">
                  <c:v>8.08</c:v>
                </c:pt>
                <c:pt idx="49">
                  <c:v>8.26</c:v>
                </c:pt>
                <c:pt idx="50">
                  <c:v>8.68</c:v>
                </c:pt>
                <c:pt idx="51">
                  <c:v>7.27</c:v>
                </c:pt>
                <c:pt idx="52">
                  <c:v>7.36</c:v>
                </c:pt>
                <c:pt idx="53">
                  <c:v>6.14</c:v>
                </c:pt>
                <c:pt idx="54">
                  <c:v>6.73</c:v>
                </c:pt>
                <c:pt idx="55">
                  <c:v>5.89</c:v>
                </c:pt>
                <c:pt idx="56">
                  <c:v>7.5</c:v>
                </c:pt>
                <c:pt idx="57">
                  <c:v>7.67</c:v>
                </c:pt>
                <c:pt idx="58">
                  <c:v>7.65</c:v>
                </c:pt>
                <c:pt idx="59">
                  <c:v>8.08</c:v>
                </c:pt>
                <c:pt idx="60">
                  <c:v>7.81</c:v>
                </c:pt>
                <c:pt idx="61">
                  <c:v>6.93</c:v>
                </c:pt>
                <c:pt idx="62">
                  <c:v>6.6</c:v>
                </c:pt>
                <c:pt idx="63">
                  <c:v>6.5</c:v>
                </c:pt>
                <c:pt idx="64">
                  <c:v>5.94</c:v>
                </c:pt>
                <c:pt idx="65">
                  <c:v>8.52</c:v>
                </c:pt>
                <c:pt idx="66">
                  <c:v>7.93</c:v>
                </c:pt>
                <c:pt idx="67">
                  <c:v>8.1999999999999993</c:v>
                </c:pt>
                <c:pt idx="68">
                  <c:v>7.44</c:v>
                </c:pt>
                <c:pt idx="69">
                  <c:v>7.31</c:v>
                </c:pt>
                <c:pt idx="70">
                  <c:v>7.88</c:v>
                </c:pt>
                <c:pt idx="71">
                  <c:v>7.43</c:v>
                </c:pt>
                <c:pt idx="72">
                  <c:v>7.06</c:v>
                </c:pt>
                <c:pt idx="73">
                  <c:v>7.74</c:v>
                </c:pt>
                <c:pt idx="74">
                  <c:v>8.01</c:v>
                </c:pt>
                <c:pt idx="75">
                  <c:v>7.01</c:v>
                </c:pt>
                <c:pt idx="76">
                  <c:v>7.37</c:v>
                </c:pt>
                <c:pt idx="77">
                  <c:v>6.58</c:v>
                </c:pt>
                <c:pt idx="78">
                  <c:v>7.69</c:v>
                </c:pt>
                <c:pt idx="79">
                  <c:v>6.05</c:v>
                </c:pt>
                <c:pt idx="80">
                  <c:v>7.19</c:v>
                </c:pt>
                <c:pt idx="81">
                  <c:v>7.72</c:v>
                </c:pt>
                <c:pt idx="82">
                  <c:v>8.06</c:v>
                </c:pt>
                <c:pt idx="83">
                  <c:v>7.28</c:v>
                </c:pt>
                <c:pt idx="84">
                  <c:v>6.36</c:v>
                </c:pt>
                <c:pt idx="85">
                  <c:v>6.75</c:v>
                </c:pt>
                <c:pt idx="86">
                  <c:v>6.66</c:v>
                </c:pt>
                <c:pt idx="87">
                  <c:v>7.45</c:v>
                </c:pt>
                <c:pt idx="88">
                  <c:v>8.1</c:v>
                </c:pt>
                <c:pt idx="89">
                  <c:v>8.1</c:v>
                </c:pt>
                <c:pt idx="90">
                  <c:v>6.52</c:v>
                </c:pt>
                <c:pt idx="91">
                  <c:v>8.07</c:v>
                </c:pt>
                <c:pt idx="92">
                  <c:v>7.48</c:v>
                </c:pt>
                <c:pt idx="93">
                  <c:v>8.94</c:v>
                </c:pt>
                <c:pt idx="94">
                  <c:v>8.06</c:v>
                </c:pt>
                <c:pt idx="95">
                  <c:v>6.89</c:v>
                </c:pt>
                <c:pt idx="96">
                  <c:v>7.18</c:v>
                </c:pt>
                <c:pt idx="97">
                  <c:v>8.0299999999999994</c:v>
                </c:pt>
                <c:pt idx="98">
                  <c:v>7.68</c:v>
                </c:pt>
                <c:pt idx="99">
                  <c:v>8.3000000000000007</c:v>
                </c:pt>
                <c:pt idx="100">
                  <c:v>7.66</c:v>
                </c:pt>
                <c:pt idx="101">
                  <c:v>8.39</c:v>
                </c:pt>
                <c:pt idx="102">
                  <c:v>7.3</c:v>
                </c:pt>
                <c:pt idx="103">
                  <c:v>7.63</c:v>
                </c:pt>
                <c:pt idx="104">
                  <c:v>7.17</c:v>
                </c:pt>
                <c:pt idx="105">
                  <c:v>7.73</c:v>
                </c:pt>
                <c:pt idx="106">
                  <c:v>8.94</c:v>
                </c:pt>
                <c:pt idx="107">
                  <c:v>8.61</c:v>
                </c:pt>
                <c:pt idx="108">
                  <c:v>8.2799999999999994</c:v>
                </c:pt>
                <c:pt idx="109">
                  <c:v>7.53</c:v>
                </c:pt>
                <c:pt idx="110">
                  <c:v>7.98</c:v>
                </c:pt>
                <c:pt idx="111">
                  <c:v>8.48</c:v>
                </c:pt>
                <c:pt idx="112">
                  <c:v>8.59</c:v>
                </c:pt>
                <c:pt idx="113">
                  <c:v>9.7799999999999994</c:v>
                </c:pt>
                <c:pt idx="114">
                  <c:v>9.23</c:v>
                </c:pt>
                <c:pt idx="115">
                  <c:v>8.6199999999999992</c:v>
                </c:pt>
                <c:pt idx="116">
                  <c:v>8.2200000000000006</c:v>
                </c:pt>
                <c:pt idx="117">
                  <c:v>9.39</c:v>
                </c:pt>
                <c:pt idx="118">
                  <c:v>9.2799999999999994</c:v>
                </c:pt>
                <c:pt idx="119">
                  <c:v>8.98</c:v>
                </c:pt>
                <c:pt idx="120">
                  <c:v>7.87</c:v>
                </c:pt>
                <c:pt idx="121">
                  <c:v>9.14</c:v>
                </c:pt>
                <c:pt idx="122">
                  <c:v>9.57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24-433C-B790-6C0A7A28B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3015280"/>
        <c:axId val="823010928"/>
      </c:lineChart>
      <c:catAx>
        <c:axId val="82301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823010928"/>
        <c:crosses val="autoZero"/>
        <c:auto val="1"/>
        <c:lblAlgn val="ctr"/>
        <c:lblOffset val="100"/>
        <c:noMultiLvlLbl val="0"/>
      </c:catAx>
      <c:valAx>
        <c:axId val="823010928"/>
        <c:scaling>
          <c:orientation val="minMax"/>
          <c:max val="12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pPr>
            <a:endParaRPr lang="hu-HU"/>
          </a:p>
        </c:txPr>
        <c:crossAx val="82301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0.00273</cdr:y>
    </cdr:from>
    <cdr:to>
      <cdr:x>0.12068</cdr:x>
      <cdr:y>0.13737</cdr:y>
    </cdr:to>
    <cdr:sp macro="" textlink="">
      <cdr:nvSpPr>
        <cdr:cNvPr id="2" name="Szövegdoboz 32">
          <a:extLst xmlns:a="http://schemas.openxmlformats.org/drawingml/2006/main">
            <a:ext uri="{FF2B5EF4-FFF2-40B4-BE49-F238E27FC236}">
              <a16:creationId xmlns:a16="http://schemas.microsoft.com/office/drawing/2014/main" id="{29D24C1D-84A8-948B-60C6-4F2D8B1BA65B}"/>
            </a:ext>
          </a:extLst>
        </cdr:cNvPr>
        <cdr:cNvSpPr txBox="1"/>
      </cdr:nvSpPr>
      <cdr:spPr>
        <a:xfrm xmlns:a="http://schemas.openxmlformats.org/drawingml/2006/main">
          <a:off x="-7222402" y="7496"/>
          <a:ext cx="5517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hu-HU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rPr>
            <a:t>[°C]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9412B-34D5-4BDB-A0C0-AC22A6FDD924}" type="datetimeFigureOut">
              <a:t>2025. nov. 14.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CCD4D-18BB-44E7-A6BB-22414018B3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CD4D-18BB-44E7-A6BB-22414018B37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255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CD4D-18BB-44E7-A6BB-22414018B37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1032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DB80-3541-0220-D846-8187BCA2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0EFD939-0004-7AF7-62E1-ADCE9E0E0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2C36D5B-8AE7-BB19-19FA-BA796ECD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F9BAC29-C25C-3743-716E-CB64BC2A3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CCD4D-18BB-44E7-A6BB-22414018B37A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5040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/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796776-E13E-EE70-1024-61D0E548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A33BDE-5827-B978-8782-68D8565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470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3637AC-ADC8-93B9-85DF-F33A35518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A7D7FA-A6C1-15E9-248F-222403659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74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590D3C-988E-2567-60EB-0A4602CD3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0E4EEFA-0995-9CCD-6D7F-70B9EBD45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11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CD4D1A9-9F6B-C561-7AC4-05C86FF1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7FCF368-AB64-5FEB-A4ED-1837EE8E806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33C1AC0-3A73-603A-A859-24A89A5E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1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452C-9105-195E-DD50-B85571BF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CA40B-4ECB-51F3-7BA4-D0C43996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CB4D9-3A4B-1F8B-5219-5EE058F87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03604-72C3-D5CE-C09C-E05C72BFC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3E66-3D7A-FC9C-DAAB-7750C4812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lvl="0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0831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C293F6-E8B6-92CA-8DD3-F46267F22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64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85E8BFE3-BE3F-06D0-2E51-B1A3E835A55D}"/>
              </a:ext>
            </a:extLst>
          </p:cNvPr>
          <p:cNvSpPr txBox="1"/>
          <p:nvPr userDrawn="1"/>
        </p:nvSpPr>
        <p:spPr>
          <a:xfrm>
            <a:off x="3958443" y="4346049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58393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12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26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06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96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12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854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237578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89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AD252D8-47A9-4F50-0A77-F7F2B5C7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4E0E61-AEC0-9130-9970-54CD0B1FE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593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1E8E-B63B-2812-4914-7B39E38C7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65A07-4D49-E8EF-40E0-498B3F03B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71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CE9B65-7C16-AD40-4E8F-376EFB31D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EF2646-4A29-9DC6-94A1-9C78C840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2713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3CBA443-1DB4-591B-10FB-89F19A331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884739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F71B37-838A-25F4-2891-96F126B3BD4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31085" y="1285432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64250E-B7FE-5C77-8772-835E1D3B0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085" y="2260315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9793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51E2-0AA8-B538-88F2-E8FEE737F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Comparison Slide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E506-04E4-4D79-51C0-DE1A5396B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EB5BD-B42E-8768-14F6-DA6AD364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263CD-AEDB-2834-CF69-D950F370B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0949F-23D7-43BC-86B5-A59EEC23A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43105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BD8F-B49C-E9AF-967A-FE2625C11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9CC6D77E-AF65-470D-B774-7812FAD3C4A3}"/>
              </a:ext>
            </a:extLst>
          </p:cNvPr>
          <p:cNvSpPr txBox="1"/>
          <p:nvPr userDrawn="1"/>
        </p:nvSpPr>
        <p:spPr>
          <a:xfrm>
            <a:off x="3824879" y="5024143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1516502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217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ge to Edge Photo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63ED7F9-AC2F-AB90-E59E-6D3DCE7D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078" y="1013439"/>
            <a:ext cx="4274474" cy="1600200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6C12E21-29DC-AD1F-41A5-AE890AAD2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90053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4530C31-AD13-5759-E472-94A0E4916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8078" y="2941814"/>
            <a:ext cx="4274474" cy="2667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06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3E974-FF92-2065-59B5-7198AC9AFE0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337" y="0"/>
            <a:ext cx="12474857" cy="701748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C96D-DE28-DCBB-6A7D-6E7FC08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#1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03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90" r:id="rId3"/>
    <p:sldLayoutId id="2147483688" r:id="rId4"/>
    <p:sldLayoutId id="2147483689" r:id="rId5"/>
    <p:sldLayoutId id="2147483691" r:id="rId6"/>
    <p:sldLayoutId id="2147483692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#2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3318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94" r:id="rId5"/>
    <p:sldLayoutId id="2147483671" r:id="rId6"/>
    <p:sldLayoutId id="2147483681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8A25AD-8EE8-C80F-37B6-E5BC4C2CBA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5776713"/>
            <a:ext cx="12195019" cy="10812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CF8C2-75E9-6016-486F-1EAB5024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#3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3081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3" r:id="rId2"/>
    <p:sldLayoutId id="2147483675" r:id="rId3"/>
    <p:sldLayoutId id="2147483676" r:id="rId4"/>
    <p:sldLayoutId id="2147483679" r:id="rId5"/>
    <p:sldLayoutId id="2147483677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1F7C8-B977-11A8-F895-8D99CAC0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Photography Slides</a:t>
            </a:r>
            <a:endParaRPr lang="en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FDA4F3-78CD-1AB6-C649-9A0EF319DC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" y="0"/>
            <a:ext cx="12191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4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homogenization@met.h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library.wmo.int/records/item/54705-eighth-seminar-for-homogenization-and-quality-control-in-climatological-databases-and-third-conference-on-spatial-interpolation-techniques-in-climatology-and-meteorology?offset=6" TargetMode="External"/><Relationship Id="rId3" Type="http://schemas.openxmlformats.org/officeDocument/2006/relationships/hyperlink" Target="https://library.wmo.int/records/item/49272-proceedings-of-the-third-seminar-for-homogenization-and-quality-control-in-climatological-databases?offset=11" TargetMode="External"/><Relationship Id="rId7" Type="http://schemas.openxmlformats.org/officeDocument/2006/relationships/hyperlink" Target="https://library.wmo.int/records/item/50511-seventh-seminar-for-homogenization-and-quality-control-in-climatological-databases-jointly-organized-with-the-meeting-of-cost-es0601-home-action-mc-meeting?offset=1" TargetMode="External"/><Relationship Id="rId12" Type="http://schemas.openxmlformats.org/officeDocument/2006/relationships/image" Target="../media/image7.png"/><Relationship Id="rId2" Type="http://schemas.openxmlformats.org/officeDocument/2006/relationships/hyperlink" Target="https://library.wmo.int/records/item/49281-proceedings-of-the-first-seminar-for-homogenization-of-surface-climatological-data?offset=19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library.wmo.int/records/item/48629-proceedings-of-the-sixth-seminar-for-homogenization-and-quality-control-in-climatological-databases?offset=7" TargetMode="External"/><Relationship Id="rId11" Type="http://schemas.openxmlformats.org/officeDocument/2006/relationships/hyperlink" Target="https://library.wmo.int/records/item/68452-eleventh-seminar-for-homogenization-and-quality-control-in-climatological-databases-and-sixth-interpolation-conference-jointly-organized-with-fourteenth-eumetnet-data-management-workshop?offset=4" TargetMode="External"/><Relationship Id="rId5" Type="http://schemas.openxmlformats.org/officeDocument/2006/relationships/hyperlink" Target="https://library.wmo.int/records/item/52559-proceedings-of-the-fifth-seminar-for-homogenization-and-quality-control-in-climatological-databases?offset=3" TargetMode="External"/><Relationship Id="rId10" Type="http://schemas.openxmlformats.org/officeDocument/2006/relationships/hyperlink" Target="https://library.wmo.int/viewer/57355?medianame=WCDMP_No._86_Proceedings_2020_en_#page=1&amp;viewer=picture&amp;o=bookmarks&amp;n=0&amp;q=" TargetMode="External"/><Relationship Id="rId4" Type="http://schemas.openxmlformats.org/officeDocument/2006/relationships/hyperlink" Target="https://library.wmo.int/records/item/43890-fourth-seminar-for-homogenization-and-quality-control-in-climatological-databases?offset=5" TargetMode="External"/><Relationship Id="rId9" Type="http://schemas.openxmlformats.org/officeDocument/2006/relationships/hyperlink" Target="https://library.wmo.int/records/item/56338-ninth-seminar-for-homogenization-and-quality-control-in-climatological-databases-and-fourth-conference-on-spatial-interpolation-techniques-in-climatology-and-meteorology?offset=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.hu/en/rolunk/rendezvenyek/homogenization_and_interpolation/softwar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wmo.int/idurl/4/68452" TargetMode="External"/><Relationship Id="rId2" Type="http://schemas.openxmlformats.org/officeDocument/2006/relationships/hyperlink" Target="https://doi.org/10.1002/joc.8207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hyperlink" Target="https://doi.org.10.28974/idojaras.2022.1.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41481-C6BF-C213-3477-846899AA2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2155608"/>
          </a:xfrm>
        </p:spPr>
        <p:txBody>
          <a:bodyPr>
            <a:normAutofit/>
          </a:bodyPr>
          <a:lstStyle/>
          <a:p>
            <a:r>
              <a:rPr lang="en-GB" sz="6000" noProof="0" dirty="0">
                <a:effectLst/>
                <a:latin typeface="Calibri" panose="020F0502020204030204" pitchFamily="34" charset="0"/>
                <a:ea typeface="PMingLiU"/>
              </a:rPr>
              <a:t>WMO Consultation on climate data homogenization</a:t>
            </a:r>
            <a:endParaRPr lang="en-GB" sz="17900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63E35-7C2F-CF05-8A9D-C2464ECD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34" y="3082599"/>
            <a:ext cx="11040291" cy="12913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GB" noProof="0" dirty="0"/>
          </a:p>
          <a:p>
            <a:pPr marL="0" indent="0" algn="l">
              <a:buNone/>
            </a:pPr>
            <a:r>
              <a:rPr lang="en-GB" b="1" noProof="0" dirty="0"/>
              <a:t>Use case from</a:t>
            </a:r>
            <a:r>
              <a:rPr lang="en-GB" noProof="0" dirty="0"/>
              <a:t>: </a:t>
            </a:r>
            <a:r>
              <a:rPr lang="hu-HU" i="1" noProof="0" dirty="0" err="1"/>
              <a:t>HungaroMet</a:t>
            </a:r>
            <a:r>
              <a:rPr lang="hu-HU" i="1" noProof="0" dirty="0"/>
              <a:t>, </a:t>
            </a:r>
            <a:r>
              <a:rPr lang="hu-HU" i="1" noProof="0" dirty="0" err="1"/>
              <a:t>Hungarian</a:t>
            </a:r>
            <a:r>
              <a:rPr lang="hu-HU" i="1" noProof="0" dirty="0"/>
              <a:t> </a:t>
            </a:r>
            <a:r>
              <a:rPr lang="hu-HU" i="1" noProof="0" dirty="0" err="1"/>
              <a:t>Meteorological</a:t>
            </a:r>
            <a:r>
              <a:rPr lang="hu-HU" i="1" noProof="0" dirty="0"/>
              <a:t> Service</a:t>
            </a:r>
            <a:endParaRPr lang="en-GB" i="1" noProof="0" dirty="0"/>
          </a:p>
          <a:p>
            <a:pPr marL="0" indent="0" algn="l">
              <a:buNone/>
            </a:pPr>
            <a:r>
              <a:rPr lang="en-GB" b="1" noProof="0" dirty="0"/>
              <a:t>Contact(s)</a:t>
            </a:r>
            <a:r>
              <a:rPr lang="en-GB" i="1" noProof="0" dirty="0"/>
              <a:t>: </a:t>
            </a:r>
            <a:r>
              <a:rPr lang="hu-HU" i="1" u="sng" noProof="0" dirty="0"/>
              <a:t>Beatrix Izsák PhD </a:t>
            </a:r>
            <a:r>
              <a:rPr lang="hu-HU" i="1" noProof="0" dirty="0"/>
              <a:t>(izsak.b@met.hu), Mónika Lakatos PhD (lakatos.m@met.hu), Olivér Szentes (szentes.o@met.hu), Kinga Bokros (bokros.k@met.hu)</a:t>
            </a:r>
            <a:endParaRPr lang="en-GB" i="1" noProof="0" dirty="0"/>
          </a:p>
          <a:p>
            <a:pPr marL="0" indent="0" algn="l">
              <a:buNone/>
            </a:pPr>
            <a:endParaRPr lang="en-GB" i="1" dirty="0"/>
          </a:p>
          <a:p>
            <a:pPr marL="0" indent="0" algn="l">
              <a:buNone/>
            </a:pPr>
            <a:endParaRPr lang="en-GB" i="1" noProof="0" dirty="0"/>
          </a:p>
          <a:p>
            <a:pPr marL="0" indent="0" algn="l">
              <a:buNone/>
            </a:pPr>
            <a:endParaRPr lang="en-GB" i="1" dirty="0"/>
          </a:p>
          <a:p>
            <a:pPr marL="0" indent="0" algn="l">
              <a:buNone/>
            </a:pPr>
            <a:endParaRPr lang="en-GB" i="1" noProof="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EA986E8-72CD-4B7B-8424-4EC41E803F7C}"/>
              </a:ext>
            </a:extLst>
          </p:cNvPr>
          <p:cNvSpPr txBox="1">
            <a:spLocks/>
          </p:cNvSpPr>
          <p:nvPr/>
        </p:nvSpPr>
        <p:spPr>
          <a:xfrm>
            <a:off x="8843553" y="5220554"/>
            <a:ext cx="3082835" cy="1291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GB" sz="1800" b="1" dirty="0"/>
              <a:t>Date</a:t>
            </a:r>
            <a:r>
              <a:rPr lang="en-GB" sz="1800" dirty="0"/>
              <a:t>: </a:t>
            </a:r>
            <a:r>
              <a:rPr lang="hu-HU" sz="1800" i="1" dirty="0"/>
              <a:t>19</a:t>
            </a:r>
            <a:r>
              <a:rPr lang="en-GB" sz="1800" i="1" dirty="0"/>
              <a:t>/</a:t>
            </a:r>
            <a:r>
              <a:rPr lang="hu-HU" sz="1800" i="1" dirty="0"/>
              <a:t>11</a:t>
            </a:r>
            <a:r>
              <a:rPr lang="en-GB" sz="1800" i="1" dirty="0"/>
              <a:t>/</a:t>
            </a:r>
            <a:r>
              <a:rPr lang="hu-HU" sz="1800" i="1" dirty="0"/>
              <a:t>2025</a:t>
            </a:r>
            <a:endParaRPr lang="en-GB" sz="1800" i="1" dirty="0"/>
          </a:p>
        </p:txBody>
      </p:sp>
    </p:spTree>
    <p:extLst>
      <p:ext uri="{BB962C8B-B14F-4D97-AF65-F5344CB8AC3E}">
        <p14:creationId xmlns:p14="http://schemas.microsoft.com/office/powerpoint/2010/main" val="362796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278278"/>
            <a:ext cx="11783050" cy="685172"/>
          </a:xfrm>
        </p:spPr>
        <p:txBody>
          <a:bodyPr/>
          <a:lstStyle/>
          <a:p>
            <a:r>
              <a:rPr lang="en-GB" sz="3200" dirty="0">
                <a:latin typeface="Arial"/>
                <a:cs typeface="Arial"/>
              </a:rPr>
              <a:t>Homogenization: data processes, products and services</a:t>
            </a:r>
            <a:endParaRPr lang="en-GB" sz="3200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690858-CC36-C970-720F-F32A73FC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156" y="1315953"/>
            <a:ext cx="11665484" cy="4173041"/>
          </a:xfrm>
        </p:spPr>
        <p:txBody>
          <a:bodyPr lIns="91440" tIns="45720" rIns="91440" bIns="45720" anchor="t"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There is a long tradition of homogenizing meteorological data in Hungary</a:t>
            </a:r>
            <a:r>
              <a:rPr lang="hu-HU" dirty="0"/>
              <a:t> - 1996 </a:t>
            </a:r>
            <a:r>
              <a:rPr lang="hu-HU" dirty="0" err="1"/>
              <a:t>organization</a:t>
            </a:r>
            <a:r>
              <a:rPr lang="hu-HU" dirty="0"/>
              <a:t> of „1st </a:t>
            </a:r>
            <a:r>
              <a:rPr lang="en-US" dirty="0"/>
              <a:t>Seminar for Homogenization and Quality Control in Climatological Databases</a:t>
            </a:r>
            <a:r>
              <a:rPr lang="hu-HU" dirty="0"/>
              <a:t>”</a:t>
            </a:r>
            <a:r>
              <a:rPr lang="en-US" dirty="0"/>
              <a:t> at the headquarters Hungarian Meteorological Service</a:t>
            </a:r>
            <a:r>
              <a:rPr lang="hu-HU" dirty="0"/>
              <a:t> – </a:t>
            </a:r>
            <a:r>
              <a:rPr lang="hu-HU" b="1" dirty="0" err="1"/>
              <a:t>supported</a:t>
            </a:r>
            <a:r>
              <a:rPr lang="hu-HU" b="1" dirty="0"/>
              <a:t> </a:t>
            </a:r>
            <a:r>
              <a:rPr lang="hu-HU" b="1" dirty="0" err="1"/>
              <a:t>by</a:t>
            </a:r>
            <a:r>
              <a:rPr lang="hu-HU" b="1" dirty="0"/>
              <a:t> WMO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12th Seminar for Homogenization </a:t>
            </a:r>
            <a:r>
              <a:rPr lang="en-US" dirty="0"/>
              <a:t>and Quality Control in Climatological Databases and the 7th Interpolation Conference will be organized in </a:t>
            </a:r>
            <a:r>
              <a:rPr lang="en-US" b="1" dirty="0"/>
              <a:t>Budapest</a:t>
            </a:r>
            <a:r>
              <a:rPr lang="en-US" dirty="0"/>
              <a:t>,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en-US" dirty="0" err="1"/>
              <a:t>HungaroMet</a:t>
            </a:r>
            <a:r>
              <a:rPr lang="hu-HU" dirty="0"/>
              <a:t> </a:t>
            </a:r>
            <a:r>
              <a:rPr lang="en-US" dirty="0"/>
              <a:t>and online, from </a:t>
            </a:r>
            <a:r>
              <a:rPr lang="en-US" b="1" dirty="0"/>
              <a:t>5 to 7 May 2026</a:t>
            </a:r>
            <a:r>
              <a:rPr lang="en-US" dirty="0"/>
              <a:t>.</a:t>
            </a:r>
            <a:r>
              <a:rPr lang="hu-HU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hu-HU" dirty="0" err="1"/>
              <a:t>Homogenization</a:t>
            </a:r>
            <a:r>
              <a:rPr lang="hu-HU" dirty="0"/>
              <a:t> mailing </a:t>
            </a:r>
            <a:r>
              <a:rPr lang="hu-HU" dirty="0" err="1"/>
              <a:t>list</a:t>
            </a:r>
            <a:r>
              <a:rPr lang="hu-HU" dirty="0"/>
              <a:t>: </a:t>
            </a:r>
            <a:r>
              <a:rPr lang="hu-HU" dirty="0">
                <a:hlinkClick r:id="rId3"/>
              </a:rPr>
              <a:t>homogenisation@met.hu</a:t>
            </a:r>
            <a:r>
              <a:rPr lang="hu-HU" dirty="0"/>
              <a:t> – </a:t>
            </a:r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us</a:t>
            </a:r>
            <a:r>
              <a:rPr lang="hu-HU" dirty="0"/>
              <a:t>!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hu-HU" dirty="0"/>
          </a:p>
          <a:p>
            <a:pPr algn="just">
              <a:buFont typeface="Arial" panose="020B0604020202020204" pitchFamily="34" charset="0"/>
              <a:buChar char="•"/>
            </a:pPr>
            <a:endParaRPr lang="hu-HU" dirty="0"/>
          </a:p>
          <a:p>
            <a:endParaRPr lang="en-GB" dirty="0"/>
          </a:p>
        </p:txBody>
      </p:sp>
      <p:pic>
        <p:nvPicPr>
          <p:cNvPr id="8" name="Kép 3">
            <a:extLst>
              <a:ext uri="{FF2B5EF4-FFF2-40B4-BE49-F238E27FC236}">
                <a16:creationId xmlns:a16="http://schemas.microsoft.com/office/drawing/2014/main" id="{1DE20C94-2C59-3E23-B5DC-6348532C7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012" y="4777941"/>
            <a:ext cx="2543919" cy="208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Kép 4">
            <a:extLst>
              <a:ext uri="{FF2B5EF4-FFF2-40B4-BE49-F238E27FC236}">
                <a16:creationId xmlns:a16="http://schemas.microsoft.com/office/drawing/2014/main" id="{BCB9B969-6AAF-1FDF-86A9-7F9B68D6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328" y="4641328"/>
            <a:ext cx="2705172" cy="2211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75FC10B6-8315-B2E4-696C-BEA080EB1B52}"/>
              </a:ext>
            </a:extLst>
          </p:cNvPr>
          <p:cNvSpPr/>
          <p:nvPr/>
        </p:nvSpPr>
        <p:spPr>
          <a:xfrm>
            <a:off x="7025883" y="5433392"/>
            <a:ext cx="1879577" cy="10212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28600" algn="just"/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Annual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mean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temperature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,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raw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series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:</a:t>
            </a:r>
            <a:endParaRPr lang="hu-HU" sz="1200" dirty="0">
              <a:latin typeface="Times New Roman" panose="020206030504050203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228600" indent="28575" algn="just"/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Estimation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of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change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over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total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period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1901-2018  (°C)</a:t>
            </a:r>
            <a:endParaRPr lang="hu-HU" sz="1200" dirty="0">
              <a:latin typeface="Times New Roman" panose="020206030504050203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C77362C6-FBAC-796D-254F-79FB88C0CE62}"/>
              </a:ext>
            </a:extLst>
          </p:cNvPr>
          <p:cNvSpPr/>
          <p:nvPr/>
        </p:nvSpPr>
        <p:spPr>
          <a:xfrm>
            <a:off x="2716897" y="5482967"/>
            <a:ext cx="1903193" cy="10569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28600" algn="just"/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Annual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mean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temperature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,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homogenized</a:t>
            </a:r>
            <a:r>
              <a:rPr lang="hu-HU" sz="1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b="1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series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: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Estimation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of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change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over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the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total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lang="hu-HU" sz="1200" dirty="0" err="1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period</a:t>
            </a:r>
            <a:r>
              <a:rPr lang="hu-HU" sz="1200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1901-2018  (°C) </a:t>
            </a:r>
            <a:endParaRPr lang="hu-HU" sz="1200" dirty="0"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37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93D069-E3DC-4B55-9FD3-AE4A490BF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266947" cy="685172"/>
          </a:xfrm>
        </p:spPr>
        <p:txBody>
          <a:bodyPr/>
          <a:lstStyle/>
          <a:p>
            <a:pPr algn="ctr"/>
            <a:r>
              <a:rPr lang="en-GB" sz="3200" dirty="0"/>
              <a:t>Proceedings from the earlier Seminars in WMO World Climate Data and Monitoring Programme (WCDMP) serial</a:t>
            </a:r>
            <a:endParaRPr lang="hu-HU" sz="32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3078ED0-F0B7-3583-3DC7-9AFDD1DB0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1" y="1723399"/>
            <a:ext cx="9144000" cy="3226981"/>
          </a:xfrm>
        </p:spPr>
        <p:txBody>
          <a:bodyPr numCol="3"/>
          <a:lstStyle/>
          <a:p>
            <a:r>
              <a:rPr lang="hu-HU" sz="1200" dirty="0"/>
              <a:t>1.</a:t>
            </a:r>
            <a:br>
              <a:rPr lang="hu-HU" sz="1200" dirty="0"/>
            </a:br>
            <a:r>
              <a:rPr lang="hu-HU" sz="1200" dirty="0">
                <a:hlinkClick r:id="rId2"/>
              </a:rPr>
              <a:t>https://library.wmo.int/records/item/49281-proceedings-of-the-first-seminar-for-homogenization-of-surface-climatological-data?offset=19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3.</a:t>
            </a:r>
          </a:p>
          <a:p>
            <a:r>
              <a:rPr lang="hu-HU" sz="1200" dirty="0">
                <a:hlinkClick r:id="rId3"/>
              </a:rPr>
              <a:t>https://library.wmo.int/records/item/49272-proceedings-of-the-third-seminar-for-homogenization-and-quality-control-in-climatological-databases?offset=11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4.</a:t>
            </a:r>
          </a:p>
          <a:p>
            <a:r>
              <a:rPr lang="hu-HU" sz="1200" dirty="0">
                <a:hlinkClick r:id="rId4"/>
              </a:rPr>
              <a:t>https://library.wmo.int/records/item/43890-fourth-seminar-for-homogenization-and-quality-control-in-climatological-databases?offset=5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5.</a:t>
            </a:r>
          </a:p>
          <a:p>
            <a:r>
              <a:rPr lang="hu-HU" sz="1200" dirty="0">
                <a:hlinkClick r:id="rId5"/>
              </a:rPr>
              <a:t>https://library.wmo.int/records/item/52559-proceedings-of-the-fifth-seminar-for-homogenization-and-quality-control-in-climatological-databases?offset=3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6.</a:t>
            </a:r>
          </a:p>
          <a:p>
            <a:r>
              <a:rPr lang="hu-HU" sz="1200" dirty="0">
                <a:hlinkClick r:id="rId6"/>
              </a:rPr>
              <a:t>https://library.wmo.int/records/item/48629-proceedings-of-the-sixth-seminar-for-homogenization-and-quality-control-in-climatological-databases?offset=7</a:t>
            </a:r>
            <a:endParaRPr lang="hu-HU" sz="1200" dirty="0"/>
          </a:p>
          <a:p>
            <a:r>
              <a:rPr lang="hu-HU" sz="1200" dirty="0"/>
              <a:t>7.</a:t>
            </a:r>
          </a:p>
          <a:p>
            <a:r>
              <a:rPr lang="hu-HU" sz="1200" dirty="0">
                <a:hlinkClick r:id="rId7"/>
              </a:rPr>
              <a:t>https://library.wmo.int/records/item/50511-seventh-seminar-for-homogenization-and-quality-control-in-climatological-databases-jointly-organized-with-the-meeting-of-cost-es0601-home-action-mc-meeting?offset=1</a:t>
            </a:r>
            <a:br>
              <a:rPr lang="hu-HU" sz="1200" dirty="0"/>
            </a:b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8.</a:t>
            </a:r>
          </a:p>
          <a:p>
            <a:r>
              <a:rPr lang="hu-HU" sz="1200" dirty="0">
                <a:hlinkClick r:id="rId8"/>
              </a:rPr>
              <a:t>https://library.wmo.int/records/item/54705-eighth-seminar-for-homogenization-and-quality-control-in-climatological-databases-and-third-conference-on-spatial-interpolation-techniques-in-climatology-and-meteorology?offset=6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9.</a:t>
            </a:r>
          </a:p>
          <a:p>
            <a:r>
              <a:rPr lang="hu-HU" sz="1200" dirty="0">
                <a:hlinkClick r:id="rId9"/>
              </a:rPr>
              <a:t>https://library.wmo.int/records/item/56338-ninth-seminar-for-homogenization-and-quality-control-in-climatological-databases-and-fourth-conference-on-spatial-interpolation-techniques-in-climatology-and-meteorology?offset=2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10.</a:t>
            </a:r>
          </a:p>
          <a:p>
            <a:r>
              <a:rPr lang="hu-HU" sz="1200" dirty="0">
                <a:hlinkClick r:id="rId10"/>
              </a:rPr>
              <a:t>https://library.wmo.int/viewer/57355?medianame=WCDMP_No._86_Proceedings_2020_en_#page=1&amp;viewer=picture&amp;o=bookmarks&amp;n=0&amp;q=</a:t>
            </a:r>
            <a:br>
              <a:rPr lang="hu-HU" sz="1200" dirty="0"/>
            </a:br>
            <a:endParaRPr lang="hu-HU" sz="1200" dirty="0"/>
          </a:p>
          <a:p>
            <a:r>
              <a:rPr lang="hu-HU" sz="1200" dirty="0"/>
              <a:t>11.</a:t>
            </a:r>
          </a:p>
          <a:p>
            <a:r>
              <a:rPr lang="hu-HU" sz="1200" dirty="0">
                <a:hlinkClick r:id="rId11"/>
              </a:rPr>
              <a:t>https://library.wmo.int/records/item/68452-eleventh-seminar-for-homogenization-and-quality-control-in-climatological-databases-and-sixth-interpolation-conference-jointly-organized-with-fourteenth-eumetnet-data-management-workshop?offset=4</a:t>
            </a:r>
            <a:endParaRPr lang="hu-HU" sz="1200" dirty="0"/>
          </a:p>
          <a:p>
            <a:endParaRPr lang="hu-HU" sz="12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 rotWithShape="1">
          <a:blip r:embed="rId12"/>
          <a:srcRect l="38590" t="31709" r="37949" b="10854"/>
          <a:stretch/>
        </p:blipFill>
        <p:spPr>
          <a:xfrm>
            <a:off x="125272" y="1954925"/>
            <a:ext cx="2609438" cy="359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6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7781-C36A-7384-800F-504358CC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2CCC0-E675-3C5B-92DD-C22DC64FE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278278"/>
            <a:ext cx="11783050" cy="685172"/>
          </a:xfrm>
        </p:spPr>
        <p:txBody>
          <a:bodyPr/>
          <a:lstStyle/>
          <a:p>
            <a:r>
              <a:rPr lang="en-GB" sz="3200" dirty="0">
                <a:latin typeface="Arial"/>
                <a:cs typeface="Arial"/>
              </a:rPr>
              <a:t>Homogenization: </a:t>
            </a:r>
            <a:r>
              <a:rPr lang="hu-HU" sz="3200" dirty="0">
                <a:latin typeface="Arial"/>
                <a:cs typeface="Arial"/>
              </a:rPr>
              <a:t>software</a:t>
            </a:r>
            <a:endParaRPr lang="en-GB" sz="3200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6C0A23-A8ED-8912-9293-C7C558A00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156" y="1075321"/>
            <a:ext cx="11213097" cy="4173041"/>
          </a:xfrm>
        </p:spPr>
        <p:txBody>
          <a:bodyPr lIns="91440" tIns="45720" rIns="91440" bIns="45720" anchor="t"/>
          <a:lstStyle/>
          <a:p>
            <a:r>
              <a:rPr lang="hu-HU" b="1" dirty="0"/>
              <a:t>MASHv3.03</a:t>
            </a:r>
            <a:r>
              <a:rPr lang="hu-HU" dirty="0"/>
              <a:t> </a:t>
            </a:r>
          </a:p>
          <a:p>
            <a:r>
              <a:rPr lang="hu-HU" dirty="0"/>
              <a:t>(</a:t>
            </a:r>
            <a:r>
              <a:rPr lang="hu-HU" dirty="0" err="1"/>
              <a:t>Multiple</a:t>
            </a:r>
            <a:r>
              <a:rPr lang="hu-HU" dirty="0"/>
              <a:t> </a:t>
            </a:r>
            <a:r>
              <a:rPr lang="hu-HU" dirty="0" err="1"/>
              <a:t>Analysis</a:t>
            </a:r>
            <a:r>
              <a:rPr lang="hu-HU" dirty="0"/>
              <a:t> of </a:t>
            </a:r>
            <a:r>
              <a:rPr lang="hu-HU" dirty="0" err="1"/>
              <a:t>Series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Homogenization</a:t>
            </a:r>
            <a:r>
              <a:rPr lang="hu-HU" dirty="0"/>
              <a:t>; </a:t>
            </a:r>
            <a:r>
              <a:rPr lang="de-DE" i="1" dirty="0" err="1"/>
              <a:t>Szentimrey</a:t>
            </a:r>
            <a:r>
              <a:rPr lang="de-DE" i="1" dirty="0"/>
              <a:t>, T.</a:t>
            </a:r>
            <a:r>
              <a:rPr lang="de-DE" dirty="0"/>
              <a:t>)</a:t>
            </a:r>
            <a:endParaRPr lang="hu-HU" dirty="0"/>
          </a:p>
          <a:p>
            <a:r>
              <a:rPr lang="hu-HU" b="1" dirty="0" err="1"/>
              <a:t>For</a:t>
            </a:r>
            <a:r>
              <a:rPr lang="hu-HU" b="1" dirty="0"/>
              <a:t> </a:t>
            </a:r>
            <a:r>
              <a:rPr lang="hu-HU" b="1" dirty="0" err="1"/>
              <a:t>homogenization</a:t>
            </a:r>
            <a:r>
              <a:rPr lang="hu-HU" b="1" dirty="0"/>
              <a:t>, </a:t>
            </a:r>
            <a:r>
              <a:rPr lang="hu-HU" b="1" dirty="0" err="1"/>
              <a:t>quality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r>
              <a:rPr lang="hu-HU" b="1" dirty="0"/>
              <a:t> and </a:t>
            </a:r>
            <a:r>
              <a:rPr lang="hu-HU" b="1" dirty="0" err="1"/>
              <a:t>missing</a:t>
            </a:r>
            <a:r>
              <a:rPr lang="hu-HU" b="1" dirty="0"/>
              <a:t> </a:t>
            </a:r>
            <a:r>
              <a:rPr lang="hu-HU" b="1" dirty="0" err="1"/>
              <a:t>value</a:t>
            </a:r>
            <a:r>
              <a:rPr lang="hu-HU" b="1" dirty="0"/>
              <a:t> </a:t>
            </a:r>
            <a:r>
              <a:rPr lang="hu-HU" b="1" dirty="0" err="1"/>
              <a:t>completion</a:t>
            </a:r>
            <a:r>
              <a:rPr lang="hu-HU" b="1" dirty="0"/>
              <a:t> of </a:t>
            </a:r>
            <a:r>
              <a:rPr lang="hu-HU" b="1" dirty="0" err="1"/>
              <a:t>station</a:t>
            </a:r>
            <a:r>
              <a:rPr lang="hu-HU" b="1" dirty="0"/>
              <a:t> </a:t>
            </a:r>
            <a:r>
              <a:rPr lang="hu-HU" b="1" dirty="0" err="1"/>
              <a:t>daily</a:t>
            </a:r>
            <a:r>
              <a:rPr lang="hu-HU" b="1" dirty="0"/>
              <a:t> </a:t>
            </a:r>
            <a:r>
              <a:rPr lang="hu-HU" b="1" dirty="0" err="1"/>
              <a:t>data</a:t>
            </a:r>
            <a:r>
              <a:rPr lang="hu-HU" b="1" dirty="0"/>
              <a:t> </a:t>
            </a:r>
            <a:r>
              <a:rPr lang="hu-HU" b="1" dirty="0" err="1"/>
              <a:t>series</a:t>
            </a:r>
            <a:endParaRPr lang="hu-HU" b="1" dirty="0"/>
          </a:p>
          <a:p>
            <a:r>
              <a:rPr lang="hu-HU" b="1" dirty="0">
                <a:hlinkClick r:id="rId3"/>
              </a:rPr>
              <a:t>https://www.met.hu/en/rolunk/rendezvenyek/homogenization_and_interpolation/software/</a:t>
            </a:r>
            <a:endParaRPr lang="hu-HU" b="1" dirty="0"/>
          </a:p>
          <a:p>
            <a:r>
              <a:rPr lang="hu-HU" b="1" dirty="0"/>
              <a:t>MASHv4.01 </a:t>
            </a:r>
            <a:r>
              <a:rPr lang="hu-HU" i="1" dirty="0"/>
              <a:t>(</a:t>
            </a:r>
            <a:r>
              <a:rPr lang="hu-HU" i="1" dirty="0" err="1"/>
              <a:t>Szentimrey</a:t>
            </a:r>
            <a:r>
              <a:rPr lang="hu-HU" i="1" dirty="0"/>
              <a:t>, T.)</a:t>
            </a:r>
          </a:p>
          <a:p>
            <a:r>
              <a:rPr lang="hu-HU" b="1" dirty="0" err="1"/>
              <a:t>For</a:t>
            </a:r>
            <a:r>
              <a:rPr lang="hu-HU" b="1" dirty="0"/>
              <a:t> </a:t>
            </a:r>
            <a:r>
              <a:rPr lang="hu-HU" b="1" dirty="0" err="1"/>
              <a:t>homogenization</a:t>
            </a:r>
            <a:r>
              <a:rPr lang="hu-HU" b="1" dirty="0"/>
              <a:t> in </a:t>
            </a:r>
            <a:r>
              <a:rPr lang="hu-HU" b="1" dirty="0" err="1"/>
              <a:t>mean</a:t>
            </a:r>
            <a:r>
              <a:rPr lang="hu-HU" b="1" dirty="0"/>
              <a:t> and standard </a:t>
            </a:r>
            <a:r>
              <a:rPr lang="hu-HU" b="1" dirty="0" err="1"/>
              <a:t>deviation</a:t>
            </a:r>
            <a:r>
              <a:rPr lang="hu-HU" b="1" dirty="0"/>
              <a:t>, </a:t>
            </a:r>
            <a:r>
              <a:rPr lang="hu-HU" b="1" dirty="0" err="1"/>
              <a:t>quality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r>
              <a:rPr lang="hu-HU" b="1" dirty="0"/>
              <a:t> and </a:t>
            </a:r>
            <a:r>
              <a:rPr lang="hu-HU" b="1" dirty="0" err="1"/>
              <a:t>missing</a:t>
            </a:r>
            <a:r>
              <a:rPr lang="hu-HU" b="1" dirty="0"/>
              <a:t> </a:t>
            </a:r>
            <a:r>
              <a:rPr lang="hu-HU" b="1" dirty="0" err="1"/>
              <a:t>value</a:t>
            </a:r>
            <a:r>
              <a:rPr lang="hu-HU" b="1" dirty="0"/>
              <a:t> </a:t>
            </a:r>
            <a:r>
              <a:rPr lang="hu-HU" b="1" dirty="0" err="1"/>
              <a:t>completion</a:t>
            </a:r>
            <a:r>
              <a:rPr lang="hu-HU" b="1" dirty="0"/>
              <a:t> of </a:t>
            </a:r>
            <a:r>
              <a:rPr lang="hu-HU" b="1" dirty="0" err="1"/>
              <a:t>station</a:t>
            </a:r>
            <a:r>
              <a:rPr lang="hu-HU" b="1" dirty="0"/>
              <a:t> </a:t>
            </a:r>
            <a:r>
              <a:rPr lang="hu-HU" b="1" dirty="0" err="1"/>
              <a:t>daily</a:t>
            </a:r>
            <a:r>
              <a:rPr lang="hu-HU" b="1" dirty="0"/>
              <a:t> </a:t>
            </a:r>
            <a:r>
              <a:rPr lang="hu-HU" b="1" dirty="0" err="1"/>
              <a:t>data</a:t>
            </a:r>
            <a:r>
              <a:rPr lang="hu-HU" b="1" dirty="0"/>
              <a:t> series</a:t>
            </a:r>
          </a:p>
          <a:p>
            <a:endParaRPr lang="hu-HU" b="1" dirty="0"/>
          </a:p>
          <a:p>
            <a:r>
              <a:rPr lang="hu-HU" b="1" dirty="0" err="1"/>
              <a:t>Widely</a:t>
            </a:r>
            <a:r>
              <a:rPr lang="hu-HU" b="1" dirty="0"/>
              <a:t> </a:t>
            </a:r>
            <a:r>
              <a:rPr lang="hu-HU" b="1" dirty="0" err="1"/>
              <a:t>used</a:t>
            </a:r>
            <a:r>
              <a:rPr lang="hu-HU" b="1" dirty="0"/>
              <a:t>: </a:t>
            </a:r>
            <a:r>
              <a:rPr lang="hu-HU" dirty="0" err="1"/>
              <a:t>China</a:t>
            </a:r>
            <a:r>
              <a:rPr lang="hu-HU" dirty="0"/>
              <a:t>, </a:t>
            </a:r>
            <a:r>
              <a:rPr lang="hu-HU" dirty="0" err="1"/>
              <a:t>Central</a:t>
            </a:r>
            <a:r>
              <a:rPr lang="hu-HU" dirty="0"/>
              <a:t> </a:t>
            </a:r>
            <a:r>
              <a:rPr lang="hu-HU" dirty="0" err="1"/>
              <a:t>Eastern</a:t>
            </a:r>
            <a:r>
              <a:rPr lang="hu-HU" dirty="0"/>
              <a:t> Europe, </a:t>
            </a:r>
            <a:r>
              <a:rPr lang="hu-HU" dirty="0" err="1"/>
              <a:t>Ireland</a:t>
            </a:r>
            <a:r>
              <a:rPr lang="hu-HU" dirty="0"/>
              <a:t>…</a:t>
            </a:r>
          </a:p>
          <a:p>
            <a:endParaRPr lang="hu-HU" dirty="0"/>
          </a:p>
          <a:p>
            <a:endParaRPr lang="hu-HU" b="1" dirty="0"/>
          </a:p>
          <a:p>
            <a:endParaRPr lang="en-GB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6BF1360-EC14-244B-B16E-F288AC03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1891044"/>
              </p:ext>
            </p:extLst>
          </p:nvPr>
        </p:nvGraphicFramePr>
        <p:xfrm>
          <a:off x="7884139" y="4704346"/>
          <a:ext cx="3930871" cy="192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7072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5F2F-43FE-F4EE-1087-114CBD8F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3737A-D336-C848-6B16-6078ED120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278278"/>
            <a:ext cx="11783050" cy="685172"/>
          </a:xfrm>
        </p:spPr>
        <p:txBody>
          <a:bodyPr/>
          <a:lstStyle/>
          <a:p>
            <a:r>
              <a:rPr lang="en-GB" sz="3200" dirty="0">
                <a:latin typeface="Arial"/>
                <a:cs typeface="Arial"/>
              </a:rPr>
              <a:t>Homogenization: data processes, products and services</a:t>
            </a:r>
            <a:endParaRPr lang="en-GB" sz="3200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CF2B23-33E8-F819-B0E0-C4903ACE5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683" y="1062941"/>
            <a:ext cx="11665484" cy="4753543"/>
          </a:xfrm>
        </p:spPr>
        <p:txBody>
          <a:bodyPr lIns="91440" tIns="45720" rIns="91440" bIns="45720" numCol="3" spcCol="360000" anchor="t"/>
          <a:lstStyle/>
          <a:p>
            <a:r>
              <a:rPr lang="en-GB" sz="2000" b="1" u="sng" dirty="0"/>
              <a:t>Climate variables we homogenize (</a:t>
            </a:r>
            <a:r>
              <a:rPr lang="hu-HU" sz="2000" b="1" u="sng" dirty="0" err="1"/>
              <a:t>daily</a:t>
            </a:r>
            <a:r>
              <a:rPr lang="hu-HU" sz="2000" b="1" u="sng" dirty="0"/>
              <a:t> </a:t>
            </a:r>
            <a:r>
              <a:rPr lang="hu-HU" sz="2000" b="1" u="sng" dirty="0" err="1"/>
              <a:t>data</a:t>
            </a:r>
            <a:r>
              <a:rPr lang="hu-HU" sz="2000" b="1" u="sng" dirty="0"/>
              <a:t>):</a:t>
            </a:r>
            <a:endParaRPr lang="hu-HU" sz="2000" dirty="0"/>
          </a:p>
          <a:p>
            <a:r>
              <a:rPr lang="en-GB" sz="2000" i="1" dirty="0">
                <a:solidFill>
                  <a:srgbClr val="002060"/>
                </a:solidFill>
              </a:rPr>
              <a:t>Temperature (Max, Min, Mean</a:t>
            </a:r>
            <a:r>
              <a:rPr lang="en-GB" sz="2000" i="1" dirty="0"/>
              <a:t>), </a:t>
            </a:r>
            <a:r>
              <a:rPr lang="en-GB" sz="2000" i="1" dirty="0">
                <a:solidFill>
                  <a:srgbClr val="002060"/>
                </a:solidFill>
              </a:rPr>
              <a:t>Precipitation, daily</a:t>
            </a:r>
            <a:endParaRPr lang="hu-HU" sz="2000" dirty="0"/>
          </a:p>
          <a:p>
            <a:r>
              <a:rPr lang="en-GB" sz="2000" i="1" dirty="0">
                <a:solidFill>
                  <a:srgbClr val="002060"/>
                </a:solidFill>
              </a:rPr>
              <a:t>Wind, daily</a:t>
            </a:r>
            <a:endParaRPr lang="hu-HU" sz="2000" dirty="0">
              <a:solidFill>
                <a:srgbClr val="002060"/>
              </a:solidFill>
            </a:endParaRPr>
          </a:p>
          <a:p>
            <a:r>
              <a:rPr lang="en-GB" sz="2000" i="1" dirty="0">
                <a:solidFill>
                  <a:srgbClr val="002060"/>
                </a:solidFill>
              </a:rPr>
              <a:t>Relative humidity, daily</a:t>
            </a:r>
            <a:endParaRPr lang="hu-HU" sz="2000" dirty="0">
              <a:solidFill>
                <a:srgbClr val="002060"/>
              </a:solidFill>
            </a:endParaRPr>
          </a:p>
          <a:p>
            <a:r>
              <a:rPr lang="en-GB" sz="2000" i="1" dirty="0">
                <a:solidFill>
                  <a:srgbClr val="002060"/>
                </a:solidFill>
              </a:rPr>
              <a:t>Surface air pressure at instrument level, daily </a:t>
            </a:r>
            <a:endParaRPr lang="hu-HU" sz="2000" dirty="0">
              <a:solidFill>
                <a:srgbClr val="002060"/>
              </a:solidFill>
            </a:endParaRPr>
          </a:p>
          <a:p>
            <a:r>
              <a:rPr lang="en-GB" sz="2000" i="1" dirty="0">
                <a:solidFill>
                  <a:srgbClr val="002060"/>
                </a:solidFill>
              </a:rPr>
              <a:t>Global radiation, daily</a:t>
            </a:r>
            <a:endParaRPr lang="hu-HU" sz="2000" dirty="0">
              <a:solidFill>
                <a:srgbClr val="002060"/>
              </a:solidFill>
            </a:endParaRPr>
          </a:p>
          <a:p>
            <a:r>
              <a:rPr lang="en-GB" sz="2000" dirty="0"/>
              <a:t> </a:t>
            </a:r>
            <a:r>
              <a:rPr lang="en-GB" sz="2000" b="1" dirty="0"/>
              <a:t>https://odp.met.hu/climate/</a:t>
            </a:r>
            <a:endParaRPr lang="hu-HU" sz="2000" b="1" dirty="0"/>
          </a:p>
          <a:p>
            <a:r>
              <a:rPr lang="en-GB" sz="2000" dirty="0"/>
              <a:t>Yearly update for all the elements above</a:t>
            </a:r>
            <a:r>
              <a:rPr lang="hu-HU" sz="2000" dirty="0"/>
              <a:t>!</a:t>
            </a:r>
          </a:p>
          <a:p>
            <a:endParaRPr lang="hu-HU" sz="2000" b="1" dirty="0"/>
          </a:p>
          <a:p>
            <a:r>
              <a:rPr lang="hu-HU" sz="2000" b="1" u="sng" dirty="0"/>
              <a:t>Products:</a:t>
            </a:r>
          </a:p>
          <a:p>
            <a:r>
              <a:rPr lang="en-GB" sz="2000" b="1" dirty="0"/>
              <a:t>Production of climate normals</a:t>
            </a:r>
            <a:r>
              <a:rPr lang="en-GB" sz="2000" dirty="0"/>
              <a:t>	 </a:t>
            </a:r>
            <a:endParaRPr lang="hu-HU" sz="2000" dirty="0"/>
          </a:p>
          <a:p>
            <a:r>
              <a:rPr lang="en-GB" sz="2000" b="1" dirty="0"/>
              <a:t>Climate trends</a:t>
            </a:r>
            <a:endParaRPr lang="hu-HU" sz="2000" dirty="0"/>
          </a:p>
          <a:p>
            <a:r>
              <a:rPr lang="en-GB" sz="2000" b="1" dirty="0"/>
              <a:t>Climate indices</a:t>
            </a:r>
            <a:endParaRPr lang="hu-H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Warm</a:t>
            </a:r>
            <a:r>
              <a:rPr lang="hu-HU" sz="2000" i="1" dirty="0"/>
              <a:t>, </a:t>
            </a:r>
            <a:r>
              <a:rPr lang="en-GB" sz="2000" i="1" dirty="0"/>
              <a:t>Cold</a:t>
            </a:r>
            <a:endParaRPr lang="hu-H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i="1" dirty="0" err="1"/>
              <a:t>Precipitation</a:t>
            </a:r>
            <a:endParaRPr lang="hu-HU" sz="2000" i="1" dirty="0"/>
          </a:p>
          <a:p>
            <a:r>
              <a:rPr lang="en-GB" sz="2000" b="1" dirty="0"/>
              <a:t>Climate stripes</a:t>
            </a:r>
            <a:endParaRPr lang="hu-HU" sz="2000" dirty="0"/>
          </a:p>
          <a:p>
            <a:r>
              <a:rPr lang="en-GB" sz="2000" b="1" dirty="0"/>
              <a:t>Changes in climatic zones</a:t>
            </a:r>
            <a:endParaRPr lang="hu-HU" sz="2000" b="1" dirty="0"/>
          </a:p>
          <a:p>
            <a:endParaRPr lang="hu-HU" sz="2000" b="1" dirty="0"/>
          </a:p>
          <a:p>
            <a:endParaRPr lang="hu-HU" sz="2000" b="1" dirty="0"/>
          </a:p>
          <a:p>
            <a:endParaRPr lang="hu-HU" sz="2000" b="1" dirty="0"/>
          </a:p>
          <a:p>
            <a:r>
              <a:rPr lang="hu-HU" sz="2000" b="1" u="sng" dirty="0" err="1"/>
              <a:t>Projects</a:t>
            </a:r>
            <a:r>
              <a:rPr lang="hu-HU" sz="2000" b="1" u="sng" dirty="0"/>
              <a:t>:</a:t>
            </a:r>
          </a:p>
          <a:p>
            <a:r>
              <a:rPr lang="en-US" sz="2000" b="1" dirty="0"/>
              <a:t>CARPATCLIM - Climate of the Carpathian Region</a:t>
            </a:r>
            <a:r>
              <a:rPr lang="hu-HU" sz="2000" b="1" dirty="0"/>
              <a:t> (2010-2013)</a:t>
            </a:r>
          </a:p>
          <a:p>
            <a:r>
              <a:rPr lang="hu-HU" sz="2000" b="1" dirty="0"/>
              <a:t>KLIMADAT-</a:t>
            </a:r>
            <a:r>
              <a:rPr lang="en-GB" sz="2000" b="1" dirty="0"/>
              <a:t>Integration of past, present, and future data</a:t>
            </a:r>
            <a:endParaRPr lang="hu-HU" sz="2000" dirty="0"/>
          </a:p>
          <a:p>
            <a:r>
              <a:rPr lang="en-US" sz="2000" b="1" dirty="0"/>
              <a:t>Danube-ADAPT</a:t>
            </a:r>
            <a:r>
              <a:rPr lang="hu-HU" sz="2000" b="1" dirty="0"/>
              <a:t> 2025- (</a:t>
            </a:r>
            <a:r>
              <a:rPr lang="en-US" sz="2000" b="1" dirty="0"/>
              <a:t>Enhancing Climate Data Cooperation for Evidence-based Adaptation Policy Making in the Danube Region</a:t>
            </a:r>
            <a:r>
              <a:rPr lang="hu-HU" sz="2000" b="1" dirty="0"/>
              <a:t>)</a:t>
            </a:r>
            <a:endParaRPr lang="en-US" sz="2000" b="1" dirty="0"/>
          </a:p>
          <a:p>
            <a:endParaRPr lang="en-GB" sz="20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F2C5311-5219-07B8-EE48-2C889755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584" y="5005137"/>
            <a:ext cx="2229333" cy="163856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92361FA-8278-EC80-B8D1-DFABFEED6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232" y="5028960"/>
            <a:ext cx="2341165" cy="172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3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278278"/>
            <a:ext cx="11783050" cy="685172"/>
          </a:xfrm>
        </p:spPr>
        <p:txBody>
          <a:bodyPr/>
          <a:lstStyle/>
          <a:p>
            <a:r>
              <a:rPr lang="en-GB" sz="3200" dirty="0">
                <a:latin typeface="Arial"/>
                <a:cs typeface="Arial"/>
              </a:rPr>
              <a:t>References</a:t>
            </a:r>
            <a:endParaRPr lang="en-GB" sz="3200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3690858-CC36-C970-720F-F32A73FC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408" y="1223188"/>
            <a:ext cx="11665484" cy="4173041"/>
          </a:xfrm>
        </p:spPr>
        <p:txBody>
          <a:bodyPr lIns="91440" tIns="45720" rIns="91440" bIns="45720" anchor="t"/>
          <a:lstStyle/>
          <a:p>
            <a:r>
              <a:rPr lang="hu-HU" sz="1400" b="1" i="1" dirty="0" err="1"/>
              <a:t>Szentimrey</a:t>
            </a:r>
            <a:r>
              <a:rPr lang="hu-HU" sz="1400" b="1" i="1" dirty="0"/>
              <a:t>, T., 2017</a:t>
            </a:r>
            <a:r>
              <a:rPr lang="hu-HU" sz="1400" dirty="0"/>
              <a:t>: </a:t>
            </a:r>
            <a:r>
              <a:rPr lang="hu-HU" sz="1400" dirty="0" err="1"/>
              <a:t>Manual</a:t>
            </a:r>
            <a:r>
              <a:rPr lang="hu-HU" sz="1400" dirty="0"/>
              <a:t> of </a:t>
            </a:r>
            <a:r>
              <a:rPr lang="hu-HU" sz="1400" dirty="0" err="1"/>
              <a:t>homogenization</a:t>
            </a:r>
            <a:r>
              <a:rPr lang="hu-HU" sz="1400" dirty="0"/>
              <a:t> software MASHv3.03. </a:t>
            </a:r>
            <a:r>
              <a:rPr lang="hu-HU" sz="1400" dirty="0" err="1"/>
              <a:t>Hungarian</a:t>
            </a:r>
            <a:r>
              <a:rPr lang="hu-HU" sz="1400" dirty="0"/>
              <a:t> </a:t>
            </a:r>
            <a:r>
              <a:rPr lang="hu-HU" sz="1400" dirty="0" err="1"/>
              <a:t>Meteorological</a:t>
            </a:r>
            <a:r>
              <a:rPr lang="hu-HU" sz="1400" dirty="0"/>
              <a:t> Service, 71.</a:t>
            </a:r>
          </a:p>
          <a:p>
            <a:r>
              <a:rPr lang="en-US" sz="1400" b="1" i="1" dirty="0" err="1"/>
              <a:t>Szentimrey</a:t>
            </a:r>
            <a:r>
              <a:rPr lang="en-US" sz="1400" b="1" i="1" dirty="0"/>
              <a:t>, T., 2023a</a:t>
            </a:r>
            <a:r>
              <a:rPr lang="en-US" sz="1400" dirty="0"/>
              <a:t>:  Overview of mathematical background of homogenization, summary of method MASH and comments on benchmark validation, International Journal of Climatology, 1–16. </a:t>
            </a:r>
            <a:r>
              <a:rPr lang="en-US" sz="1400" u="sng" dirty="0">
                <a:hlinkClick r:id="rId2"/>
              </a:rPr>
              <a:t>https://doi.org/10.1002/joc.8207</a:t>
            </a:r>
            <a:endParaRPr lang="hu-HU" sz="1400" dirty="0"/>
          </a:p>
          <a:p>
            <a:r>
              <a:rPr lang="en-US" sz="1400" b="1" i="1" dirty="0" err="1"/>
              <a:t>Szentimrey</a:t>
            </a:r>
            <a:r>
              <a:rPr lang="en-US" sz="1400" b="1" i="1" dirty="0"/>
              <a:t>, T., 2023b</a:t>
            </a:r>
            <a:r>
              <a:rPr lang="en-US" sz="1400" dirty="0"/>
              <a:t>: Manual of homogenization software MASHv4.01, Varimax Limited Partnership, p.83.Szentimrey, T., 2023c: Development of new version MASHV4.01 for homogenization of standard deviation (extended abstract), Proceedings of the 11</a:t>
            </a:r>
            <a:r>
              <a:rPr lang="en-US" sz="1400" b="1" baseline="30000" dirty="0"/>
              <a:t>th</a:t>
            </a:r>
            <a:r>
              <a:rPr lang="en-US" sz="1400" dirty="0"/>
              <a:t> Seminar for Homogenization and Quality Control in Climatological Databases and 6</a:t>
            </a:r>
            <a:r>
              <a:rPr lang="en-US" sz="1400" b="1" baseline="30000" dirty="0"/>
              <a:t>th</a:t>
            </a:r>
            <a:r>
              <a:rPr lang="en-US" sz="1400" dirty="0"/>
              <a:t> </a:t>
            </a:r>
            <a:r>
              <a:rPr lang="en-US" sz="1400" b="1" dirty="0"/>
              <a:t>Conference on Spatial Interpolation Techniques in Climatology and Meteorology </a:t>
            </a:r>
            <a:r>
              <a:rPr lang="en-US" sz="1400" dirty="0"/>
              <a:t>(Ed. Lakatos M, Puskás M,  </a:t>
            </a:r>
            <a:r>
              <a:rPr lang="en-US" sz="1400" dirty="0" err="1"/>
              <a:t>Szentimrey</a:t>
            </a:r>
            <a:r>
              <a:rPr lang="en-US" sz="1400" dirty="0"/>
              <a:t> T), Budapest, Hungary, 2023, WCDMP-No. 87, pp. 8-13. </a:t>
            </a:r>
            <a:r>
              <a:rPr lang="hu-HU" sz="1400" u="sng" dirty="0">
                <a:hlinkClick r:id="rId3"/>
              </a:rPr>
              <a:t>https://library.wmo.int/idurl/4/68452</a:t>
            </a:r>
            <a:endParaRPr lang="hu-HU" sz="1400" dirty="0"/>
          </a:p>
          <a:p>
            <a:r>
              <a:rPr lang="en-US" sz="1400" b="1" i="1" dirty="0"/>
              <a:t>Venema et al., 2012</a:t>
            </a:r>
            <a:r>
              <a:rPr lang="en-US" sz="1400" dirty="0"/>
              <a:t>: Benchmarking monthly homogenization algorithms. Climate of the Past, 8, 89–115. </a:t>
            </a:r>
            <a:endParaRPr lang="hu-HU" sz="1400" dirty="0"/>
          </a:p>
          <a:p>
            <a:r>
              <a:rPr lang="en-US" sz="1400" b="1" i="1" dirty="0"/>
              <a:t>World Meteorological Organization (WMO), 2020</a:t>
            </a:r>
            <a:r>
              <a:rPr lang="en-US" sz="1400" dirty="0"/>
              <a:t>: Guidelines on Homogenization, WMO-No. 1245, p. 63.</a:t>
            </a:r>
            <a:endParaRPr lang="hu-HU" sz="1400" dirty="0"/>
          </a:p>
          <a:p>
            <a:r>
              <a:rPr lang="en-US" sz="1400" b="1" i="1" dirty="0"/>
              <a:t>Izsák, B., </a:t>
            </a:r>
            <a:r>
              <a:rPr lang="en-US" sz="1400" b="1" i="1" dirty="0" err="1"/>
              <a:t>Szentimrey</a:t>
            </a:r>
            <a:r>
              <a:rPr lang="en-US" sz="1400" b="1" i="1" dirty="0"/>
              <a:t>, T., Lakatos, M., Pongrácz, R., and Szentes, O., 2020</a:t>
            </a:r>
            <a:r>
              <a:rPr lang="en-US" sz="1400" dirty="0"/>
              <a:t>: Creation of a representative climatological database for Hungary from 1870 to 2020. </a:t>
            </a:r>
            <a:r>
              <a:rPr lang="en-US" sz="1400" dirty="0" err="1"/>
              <a:t>Időjárás</a:t>
            </a:r>
            <a:r>
              <a:rPr lang="en-US" sz="1400" dirty="0"/>
              <a:t> 126, 1–26. </a:t>
            </a:r>
            <a:r>
              <a:rPr lang="en-US" sz="1400" u="sng" dirty="0">
                <a:hlinkClick r:id="rId4"/>
              </a:rPr>
              <a:t>https://doi.org.10.28974/idojaras.2022.1.1</a:t>
            </a:r>
            <a:endParaRPr lang="hu-HU" sz="1400" dirty="0"/>
          </a:p>
          <a:p>
            <a:r>
              <a:rPr lang="en-US" sz="1400" b="1" i="1" dirty="0"/>
              <a:t>Lakatos, M., </a:t>
            </a:r>
            <a:r>
              <a:rPr lang="en-US" sz="1400" b="1" i="1" dirty="0" err="1"/>
              <a:t>Szentimrey</a:t>
            </a:r>
            <a:r>
              <a:rPr lang="en-US" sz="1400" b="1" i="1" dirty="0"/>
              <a:t>, T., Bihari, Z., Szalai, S., 2013</a:t>
            </a:r>
            <a:r>
              <a:rPr lang="en-US" sz="1400" dirty="0"/>
              <a:t>: Creation of a homogenized climate database for the Carpathian region by applying the MASH procedure and the preliminary analysis of the data, </a:t>
            </a:r>
            <a:r>
              <a:rPr lang="en-US" sz="1400" dirty="0" err="1"/>
              <a:t>Időjárás</a:t>
            </a:r>
            <a:r>
              <a:rPr lang="en-US" sz="1400" dirty="0"/>
              <a:t> Vol. 117. No. 1, January-March 2013. pp. 143-158.</a:t>
            </a:r>
            <a:endParaRPr lang="hu-HU" sz="1400" dirty="0"/>
          </a:p>
          <a:p>
            <a:r>
              <a:rPr lang="hu-HU" sz="1400" b="1" i="1" dirty="0"/>
              <a:t>Szentes, O., Lakatos, M., Pongrácz, R., 2023:</a:t>
            </a:r>
            <a:r>
              <a:rPr lang="hu-HU" sz="1400" dirty="0"/>
              <a:t> New </a:t>
            </a:r>
            <a:r>
              <a:rPr lang="hu-HU" sz="1400" dirty="0" err="1"/>
              <a:t>homogenized</a:t>
            </a:r>
            <a:r>
              <a:rPr lang="hu-HU" sz="1400" dirty="0"/>
              <a:t> </a:t>
            </a:r>
            <a:r>
              <a:rPr lang="hu-HU" sz="1400" dirty="0" err="1"/>
              <a:t>precipitation</a:t>
            </a:r>
            <a:r>
              <a:rPr lang="hu-HU" sz="1400" dirty="0"/>
              <a:t> </a:t>
            </a:r>
            <a:r>
              <a:rPr lang="hu-HU" sz="1400" dirty="0" err="1"/>
              <a:t>database</a:t>
            </a:r>
            <a:r>
              <a:rPr lang="hu-HU" sz="1400" dirty="0"/>
              <a:t> </a:t>
            </a:r>
            <a:r>
              <a:rPr lang="hu-HU" sz="1400" dirty="0" err="1"/>
              <a:t>for</a:t>
            </a:r>
            <a:r>
              <a:rPr lang="hu-HU" sz="1400" dirty="0"/>
              <a:t> Hungary </a:t>
            </a:r>
            <a:r>
              <a:rPr lang="hu-HU" sz="1400" dirty="0" err="1"/>
              <a:t>from</a:t>
            </a:r>
            <a:r>
              <a:rPr lang="hu-HU" sz="1400" dirty="0"/>
              <a:t> 1901. International Journal of </a:t>
            </a:r>
            <a:r>
              <a:rPr lang="hu-HU" sz="1400" dirty="0" err="1"/>
              <a:t>Climatology</a:t>
            </a:r>
            <a:r>
              <a:rPr lang="hu-HU" sz="1400" dirty="0"/>
              <a:t>, 1–15. https://doi.org/10.1002/joc.8097 </a:t>
            </a:r>
          </a:p>
          <a:p>
            <a:r>
              <a:rPr lang="hu-HU" sz="1400" b="1" i="1" dirty="0" err="1"/>
              <a:t>Szentimrey,T</a:t>
            </a:r>
            <a:r>
              <a:rPr lang="hu-HU" sz="1400" b="1" i="1" dirty="0"/>
              <a:t>., Bihari, Z., 2014</a:t>
            </a:r>
            <a:r>
              <a:rPr lang="hu-HU" sz="1400" dirty="0"/>
              <a:t>: </a:t>
            </a:r>
            <a:r>
              <a:rPr lang="hu-HU" sz="1400" dirty="0" err="1"/>
              <a:t>Manual</a:t>
            </a:r>
            <a:r>
              <a:rPr lang="hu-HU" sz="1400" dirty="0"/>
              <a:t> of </a:t>
            </a:r>
            <a:r>
              <a:rPr lang="hu-HU" sz="1400" dirty="0" err="1"/>
              <a:t>interpolation</a:t>
            </a:r>
            <a:r>
              <a:rPr lang="hu-HU" sz="1400" dirty="0"/>
              <a:t> software MISHv1.03, </a:t>
            </a:r>
            <a:r>
              <a:rPr lang="hu-HU" sz="1400" dirty="0" err="1"/>
              <a:t>Hungarian</a:t>
            </a:r>
            <a:r>
              <a:rPr lang="hu-HU" sz="1400" dirty="0"/>
              <a:t> </a:t>
            </a:r>
            <a:r>
              <a:rPr lang="hu-HU" sz="1400" dirty="0" err="1"/>
              <a:t>Meteorological</a:t>
            </a:r>
            <a:r>
              <a:rPr lang="hu-HU" sz="1400"/>
              <a:t> Service, 60.</a:t>
            </a:r>
          </a:p>
          <a:p>
            <a:endParaRPr lang="hu-HU" sz="1400" dirty="0"/>
          </a:p>
          <a:p>
            <a:endParaRPr lang="en-GB" sz="14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86B7F18-529F-215A-8A42-75789490B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179" y="5477499"/>
            <a:ext cx="8446168" cy="112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51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1E5BA222991439BA07A4745E8FDAA" ma:contentTypeVersion="21" ma:contentTypeDescription="Create a new document." ma:contentTypeScope="" ma:versionID="462d2e959e1e0e178d585be3c6d8823b">
  <xsd:schema xmlns:xsd="http://www.w3.org/2001/XMLSchema" xmlns:xs="http://www.w3.org/2001/XMLSchema" xmlns:p="http://schemas.microsoft.com/office/2006/metadata/properties" xmlns:ns2="715fcdb6-58ff-4d84-993c-bb26a5b54815" xmlns:ns3="2c63548e-e22e-43cb-a415-9193d4d80a38" xmlns:ns4="9d2c9005-3129-4719-81ca-2fc8d806cf37" targetNamespace="http://schemas.microsoft.com/office/2006/metadata/properties" ma:root="true" ma:fieldsID="246055f4732c2ea4362ba02adc0373a6" ns2:_="" ns3:_="" ns4:_="">
    <xsd:import namespace="715fcdb6-58ff-4d84-993c-bb26a5b54815"/>
    <xsd:import namespace="2c63548e-e22e-43cb-a415-9193d4d80a38"/>
    <xsd:import namespace="9d2c9005-3129-4719-81ca-2fc8d806cf37"/>
    <xsd:element name="properties">
      <xsd:complexType>
        <xsd:sequence>
          <xsd:element name="documentManagement">
            <xsd:complexType>
              <xsd:all>
                <xsd:element ref="ns2:WMOWFApprovalStatu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3:MediaServiceLocation" minOccurs="0"/>
                <xsd:element ref="ns3:writingteam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4:_dlc_DocId" minOccurs="0"/>
                <xsd:element ref="ns4:_dlc_DocIdUrl" minOccurs="0"/>
                <xsd:element ref="ns4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fcdb6-58ff-4d84-993c-bb26a5b54815" elementFormDefault="qualified">
    <xsd:import namespace="http://schemas.microsoft.com/office/2006/documentManagement/types"/>
    <xsd:import namespace="http://schemas.microsoft.com/office/infopath/2007/PartnerControls"/>
    <xsd:element name="WMOWFApprovalStatus" ma:index="2" nillable="true" ma:displayName="Workflow Approval Status" ma:default="Not Submitted" ma:format="Dropdown" ma:hidden="true" ma:internalName="WMOWFApprovalStatus" ma:readOnly="false">
      <xsd:simpleType>
        <xsd:restriction base="dms:Choice">
          <xsd:enumeration value="Not Submitted"/>
          <xsd:enumeration value="Pending for Review"/>
          <xsd:enumeration value="Pending for Consolidation"/>
          <xsd:enumeration value="Pending for Approval"/>
          <xsd:enumeration value="Approved"/>
          <xsd:enumeration value="Rejected by Approver"/>
          <xsd:enumeration value="Cancelled by Requesto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3548e-e22e-43cb-a415-9193d4d80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writingteam" ma:index="20" nillable="true" ma:displayName="writing team" ma:format="Dropdown" ma:list="UserInfo" ma:SharePointGroup="0" ma:internalName="writingteam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2c9005-3129-4719-81ca-2fc8d806cf3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a24cdc8-8870-4ebd-a024-58577794ff9a}" ma:internalName="TaxCatchAll" ma:showField="CatchAllData" ma:web="9d2c9005-3129-4719-81ca-2fc8d806cf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9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3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63548e-e22e-43cb-a415-9193d4d80a38">
      <Terms xmlns="http://schemas.microsoft.com/office/infopath/2007/PartnerControls"/>
    </lcf76f155ced4ddcb4097134ff3c332f>
    <TaxCatchAll xmlns="9d2c9005-3129-4719-81ca-2fc8d806cf37" xsi:nil="true"/>
    <_dlc_DocId xmlns="9d2c9005-3129-4719-81ca-2fc8d806cf37">WMOS-763995582-3262813</_dlc_DocId>
    <_dlc_DocIdUrl xmlns="9d2c9005-3129-4719-81ca-2fc8d806cf37">
      <Url>https://wmoomm.sharepoint.com/sites/Services/_layouts/15/DocIdRedir.aspx?ID=WMOS-763995582-3262813</Url>
      <Description>WMOS-763995582-3262813</Description>
    </_dlc_DocIdUrl>
    <writingteam xmlns="2c63548e-e22e-43cb-a415-9193d4d80a38">
      <UserInfo>
        <DisplayName/>
        <AccountId xsi:nil="true"/>
        <AccountType/>
      </UserInfo>
    </writingteam>
    <WMOWFApprovalStatus xmlns="715fcdb6-58ff-4d84-993c-bb26a5b54815">Not Submitted</WMOWFApproval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92a3b380-abf6-46f2-87bb-c2c114de1c9e" ContentTypeId="0x01" PreviousValue="false"/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7A6540E-92B2-41B0-9EF7-8E9101850E75}">
  <ds:schemaRefs>
    <ds:schemaRef ds:uri="2c63548e-e22e-43cb-a415-9193d4d80a38"/>
    <ds:schemaRef ds:uri="715fcdb6-58ff-4d84-993c-bb26a5b54815"/>
    <ds:schemaRef ds:uri="9d2c9005-3129-4719-81ca-2fc8d806cf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995722-7EE4-43F0-BFD1-A4A9177742E2}">
  <ds:schemaRefs>
    <ds:schemaRef ds:uri="http://purl.org/dc/elements/1.1/"/>
    <ds:schemaRef ds:uri="http://schemas.microsoft.com/office/2006/metadata/properties"/>
    <ds:schemaRef ds:uri="715fcdb6-58ff-4d84-993c-bb26a5b54815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9d2c9005-3129-4719-81ca-2fc8d806cf37"/>
    <ds:schemaRef ds:uri="2c63548e-e22e-43cb-a415-9193d4d80a3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FEAFFEE-5F5C-4084-82CF-BA64B4593A7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FF883A6-9891-42C1-A02C-5A16FDB44AE4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80E82D94-E5A0-45E7-B4D7-7AF5C62331C5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1040</Words>
  <Application>Microsoft Office PowerPoint</Application>
  <PresentationFormat>Szélesvásznú</PresentationFormat>
  <Paragraphs>86</Paragraphs>
  <Slides>6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4</vt:i4>
      </vt:variant>
      <vt:variant>
        <vt:lpstr>Diacímek</vt:lpstr>
      </vt:variant>
      <vt:variant>
        <vt:i4>6</vt:i4>
      </vt:variant>
    </vt:vector>
  </HeadingPairs>
  <TitlesOfParts>
    <vt:vector size="15" baseType="lpstr">
      <vt:lpstr>Aptos Display</vt:lpstr>
      <vt:lpstr>Arial</vt:lpstr>
      <vt:lpstr>Calibri</vt:lpstr>
      <vt:lpstr>Ebrima</vt:lpstr>
      <vt:lpstr>Times New Roman</vt:lpstr>
      <vt:lpstr>Office Theme</vt:lpstr>
      <vt:lpstr>Custom Design</vt:lpstr>
      <vt:lpstr>1_Custom Design</vt:lpstr>
      <vt:lpstr>2_Custom Design</vt:lpstr>
      <vt:lpstr>WMO Consultation on climate data homogenization</vt:lpstr>
      <vt:lpstr>Homogenization: data processes, products and services</vt:lpstr>
      <vt:lpstr>Proceedings from the earlier Seminars in WMO World Climate Data and Monitoring Programme (WCDMP) serial</vt:lpstr>
      <vt:lpstr>Homogenization: software</vt:lpstr>
      <vt:lpstr>Homogenization: data processes, products and services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Klara Josipovic</dc:creator>
  <cp:lastModifiedBy>Kovácsné Izsák Beatrix</cp:lastModifiedBy>
  <cp:revision>568</cp:revision>
  <dcterms:created xsi:type="dcterms:W3CDTF">2024-04-23T12:25:23Z</dcterms:created>
  <dcterms:modified xsi:type="dcterms:W3CDTF">2025-11-14T14:11:54Z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0x010100B0C1E5BA222991439BA07A4745E8FDAA</vt:lpwstr>
  </property>
  <property fmtid="{D5CDD505-2E9C-101B-9397-08002B2CF9AE}" pid="3" name="_dlc_DocIdItemGuid">
    <vt:lpwstr>fa7141aa-289e-4e29-97ff-2851a3a12ea5</vt:lpwstr>
  </property>
  <property fmtid="{D5CDD505-2E9C-101B-9397-08002B2CF9AE}" pid="4" name="MediaServiceImageTags">
    <vt:lpwstr/>
  </property>
</Properties>
</file>